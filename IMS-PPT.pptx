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3"/>
  </p:notesMasterIdLst>
  <p:sldIdLst>
    <p:sldId id="256" r:id="rId2"/>
    <p:sldId id="280" r:id="rId3"/>
    <p:sldId id="292" r:id="rId4"/>
    <p:sldId id="259" r:id="rId5"/>
    <p:sldId id="300" r:id="rId6"/>
    <p:sldId id="327" r:id="rId7"/>
    <p:sldId id="262" r:id="rId8"/>
    <p:sldId id="263" r:id="rId9"/>
    <p:sldId id="264" r:id="rId10"/>
    <p:sldId id="328" r:id="rId11"/>
    <p:sldId id="267" r:id="rId12"/>
    <p:sldId id="314" r:id="rId13"/>
    <p:sldId id="315" r:id="rId14"/>
    <p:sldId id="317" r:id="rId15"/>
    <p:sldId id="322" r:id="rId16"/>
    <p:sldId id="329" r:id="rId17"/>
    <p:sldId id="297" r:id="rId18"/>
    <p:sldId id="268" r:id="rId19"/>
    <p:sldId id="269" r:id="rId20"/>
    <p:sldId id="276" r:id="rId21"/>
    <p:sldId id="330" r:id="rId22"/>
    <p:sldId id="331" r:id="rId23"/>
    <p:sldId id="332" r:id="rId24"/>
    <p:sldId id="333" r:id="rId25"/>
    <p:sldId id="334" r:id="rId26"/>
    <p:sldId id="335" r:id="rId27"/>
    <p:sldId id="336" r:id="rId28"/>
    <p:sldId id="337" r:id="rId29"/>
    <p:sldId id="338" r:id="rId30"/>
    <p:sldId id="339" r:id="rId31"/>
    <p:sldId id="340" r:id="rId32"/>
    <p:sldId id="341" r:id="rId33"/>
    <p:sldId id="342" r:id="rId34"/>
    <p:sldId id="343" r:id="rId35"/>
    <p:sldId id="344" r:id="rId36"/>
    <p:sldId id="345" r:id="rId37"/>
    <p:sldId id="346" r:id="rId38"/>
    <p:sldId id="347" r:id="rId39"/>
    <p:sldId id="296" r:id="rId40"/>
    <p:sldId id="274" r:id="rId41"/>
    <p:sldId id="275" r:id="rId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196" autoAdjust="0"/>
  </p:normalViewPr>
  <p:slideViewPr>
    <p:cSldViewPr>
      <p:cViewPr varScale="1">
        <p:scale>
          <a:sx n="88" d="100"/>
          <a:sy n="88" d="100"/>
        </p:scale>
        <p:origin x="1334" y="5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57F5B7F-8512-41E7-A035-99AF5AE4F19F}" type="datetimeFigureOut">
              <a:rPr lang="en-US" smtClean="0"/>
              <a:pPr/>
              <a:t>11/25/2023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FDBF95E-DA7F-4100-90CB-4D99A6961DEE}" type="slidenum">
              <a:rPr lang="en-US" smtClean="0"/>
              <a:pPr/>
              <a:t>‹#›</a:t>
            </a:fld>
            <a:endParaRPr lang="en-US"/>
          </a:p>
        </p:txBody>
      </p:sp>
    </p:spTree>
    <p:extLst>
      <p:ext uri="{BB962C8B-B14F-4D97-AF65-F5344CB8AC3E}">
        <p14:creationId xmlns:p14="http://schemas.microsoft.com/office/powerpoint/2010/main" val="1697360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mn-lt"/>
                <a:ea typeface="+mn-ea"/>
                <a:cs typeface="+mn-cs"/>
              </a:rPr>
              <a:t> </a:t>
            </a:r>
          </a:p>
          <a:p>
            <a:r>
              <a:rPr lang="en-US" sz="1200" b="1" kern="1200" dirty="0">
                <a:solidFill>
                  <a:schemeClr val="tx1"/>
                </a:solidFill>
                <a:latin typeface="+mn-lt"/>
                <a:ea typeface="+mn-ea"/>
                <a:cs typeface="+mn-cs"/>
              </a:rPr>
              <a:t>USECASE DIAGRAM: </a:t>
            </a:r>
            <a:r>
              <a:rPr lang="en-US" sz="1200" kern="1200" dirty="0">
                <a:solidFill>
                  <a:schemeClr val="tx1"/>
                </a:solidFill>
                <a:latin typeface="+mn-lt"/>
                <a:ea typeface="+mn-ea"/>
                <a:cs typeface="+mn-cs"/>
              </a:rPr>
              <a:t>A Use case is a description of set of sequence of actions.  Graphically it is rendered as an ellipse with solid line including only its name.  Use case diagram is a behavioral diagram that shows a set of use cases and actors and their relationship.  It is an association between the use cases and actors.  An actor represents a real-world object.  Primary Actor – Sender, Secondary Actor Receiver.</a:t>
            </a:r>
          </a:p>
          <a:p>
            <a:endParaRPr lang="en-US" dirty="0"/>
          </a:p>
        </p:txBody>
      </p:sp>
      <p:sp>
        <p:nvSpPr>
          <p:cNvPr id="4" name="Slide Number Placeholder 3"/>
          <p:cNvSpPr>
            <a:spLocks noGrp="1"/>
          </p:cNvSpPr>
          <p:nvPr>
            <p:ph type="sldNum" sz="quarter" idx="10"/>
          </p:nvPr>
        </p:nvSpPr>
        <p:spPr/>
        <p:txBody>
          <a:bodyPr/>
          <a:lstStyle/>
          <a:p>
            <a:fld id="{5FDBF95E-DA7F-4100-90CB-4D99A6961DEE}" type="slidenum">
              <a:rPr lang="en-US" smtClean="0"/>
              <a:pPr/>
              <a:t>9</a:t>
            </a:fld>
            <a:endParaRPr lang="en-US"/>
          </a:p>
        </p:txBody>
      </p:sp>
    </p:spTree>
    <p:extLst>
      <p:ext uri="{BB962C8B-B14F-4D97-AF65-F5344CB8AC3E}">
        <p14:creationId xmlns:p14="http://schemas.microsoft.com/office/powerpoint/2010/main" val="40898382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 class diagram shows a set of classes, interfaces, collaborations and their relationships.</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IN" dirty="0"/>
          </a:p>
        </p:txBody>
      </p:sp>
      <p:sp>
        <p:nvSpPr>
          <p:cNvPr id="4" name="Slide Number Placeholder 3"/>
          <p:cNvSpPr>
            <a:spLocks noGrp="1"/>
          </p:cNvSpPr>
          <p:nvPr>
            <p:ph type="sldNum" sz="quarter" idx="5"/>
          </p:nvPr>
        </p:nvSpPr>
        <p:spPr/>
        <p:txBody>
          <a:bodyPr/>
          <a:lstStyle/>
          <a:p>
            <a:fld id="{5FDBF95E-DA7F-4100-90CB-4D99A6961DEE}" type="slidenum">
              <a:rPr lang="en-US" smtClean="0"/>
              <a:pPr/>
              <a:t>17</a:t>
            </a:fld>
            <a:endParaRPr lang="en-US"/>
          </a:p>
        </p:txBody>
      </p:sp>
    </p:spTree>
    <p:extLst>
      <p:ext uri="{BB962C8B-B14F-4D97-AF65-F5344CB8AC3E}">
        <p14:creationId xmlns:p14="http://schemas.microsoft.com/office/powerpoint/2010/main" val="41047487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DBDE36E3-064B-4319-8971-DB24598FB7A4}" type="datetimeFigureOut">
              <a:rPr lang="en-US" smtClean="0"/>
              <a:pPr/>
              <a:t>11/25/2023</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2401026F-F1B0-4023-B4A0-A3D8B50537F2}"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DBDE36E3-064B-4319-8971-DB24598FB7A4}" type="datetimeFigureOut">
              <a:rPr lang="en-US" smtClean="0"/>
              <a:pPr/>
              <a:t>11/25/2023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01026F-F1B0-4023-B4A0-A3D8B50537F2}"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DBDE36E3-064B-4319-8971-DB24598FB7A4}" type="datetimeFigureOut">
              <a:rPr lang="en-US" smtClean="0"/>
              <a:pPr/>
              <a:t>11/25/2023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01026F-F1B0-4023-B4A0-A3D8B50537F2}"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DBDE36E3-064B-4319-8971-DB24598FB7A4}" type="datetimeFigureOut">
              <a:rPr lang="en-US" smtClean="0"/>
              <a:pPr/>
              <a:t>11/25/2023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01026F-F1B0-4023-B4A0-A3D8B50537F2}"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DBDE36E3-064B-4319-8971-DB24598FB7A4}" type="datetimeFigureOut">
              <a:rPr lang="en-US" smtClean="0"/>
              <a:pPr/>
              <a:t>11/25/2023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401026F-F1B0-4023-B4A0-A3D8B50537F2}"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DBDE36E3-064B-4319-8971-DB24598FB7A4}" type="datetimeFigureOut">
              <a:rPr lang="en-US" smtClean="0"/>
              <a:pPr/>
              <a:t>11/25/2023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401026F-F1B0-4023-B4A0-A3D8B50537F2}"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DBDE36E3-064B-4319-8971-DB24598FB7A4}" type="datetimeFigureOut">
              <a:rPr lang="en-US" smtClean="0"/>
              <a:pPr/>
              <a:t>11/25/2023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01026F-F1B0-4023-B4A0-A3D8B50537F2}"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DBDE36E3-064B-4319-8971-DB24598FB7A4}" type="datetimeFigureOut">
              <a:rPr lang="en-US" smtClean="0"/>
              <a:pPr/>
              <a:t>11/25/2023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01026F-F1B0-4023-B4A0-A3D8B50537F2}"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DBDE36E3-064B-4319-8971-DB24598FB7A4}" type="datetimeFigureOut">
              <a:rPr lang="en-US" smtClean="0"/>
              <a:pPr/>
              <a:t>11/25/2023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01026F-F1B0-4023-B4A0-A3D8B50537F2}"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DBDE36E3-064B-4319-8971-DB24598FB7A4}" type="datetimeFigureOut">
              <a:rPr lang="en-US" smtClean="0"/>
              <a:pPr/>
              <a:t>11/25/2023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01026F-F1B0-4023-B4A0-A3D8B50537F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DBDE36E3-064B-4319-8971-DB24598FB7A4}" type="datetimeFigureOut">
              <a:rPr lang="en-US" smtClean="0"/>
              <a:pPr/>
              <a:t>11/25/2023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01026F-F1B0-4023-B4A0-A3D8B50537F2}"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DBDE36E3-064B-4319-8971-DB24598FB7A4}" type="datetimeFigureOut">
              <a:rPr lang="en-US" smtClean="0"/>
              <a:pPr/>
              <a:t>11/25/2023</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2401026F-F1B0-4023-B4A0-A3D8B50537F2}"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0100" y="928670"/>
            <a:ext cx="8429684" cy="4084506"/>
          </a:xfrm>
        </p:spPr>
        <p:txBody>
          <a:bodyPr>
            <a:normAutofit/>
          </a:bodyPr>
          <a:lstStyle/>
          <a:p>
            <a:pPr algn="ctr"/>
            <a:r>
              <a:rPr lang="en-US" sz="5400" b="1" u="sng" dirty="0" smtClean="0"/>
              <a:t>Insurance</a:t>
            </a:r>
            <a:r>
              <a:rPr lang="en-US" sz="5400" b="1" u="sng" dirty="0" smtClean="0"/>
              <a:t/>
            </a:r>
            <a:br>
              <a:rPr lang="en-US" sz="5400" b="1" u="sng" dirty="0" smtClean="0"/>
            </a:br>
            <a:r>
              <a:rPr lang="en-US" sz="5400" b="1" u="sng" dirty="0" smtClean="0"/>
              <a:t>Management System</a:t>
            </a:r>
            <a:r>
              <a:rPr lang="en-US" b="1" u="sng" dirty="0"/>
              <a:t/>
            </a:r>
            <a:br>
              <a:rPr lang="en-US" b="1" u="sng" dirty="0"/>
            </a:br>
            <a:r>
              <a:rPr lang="en-US" b="1" u="sng" dirty="0"/>
              <a:t/>
            </a:r>
            <a:br>
              <a:rPr lang="en-US" b="1" u="sng" dirty="0"/>
            </a:br>
            <a:r>
              <a:rPr lang="en-US" sz="3200" b="1" u="sng" dirty="0"/>
              <a:t>Developed in PHP &amp; MySQL</a:t>
            </a:r>
            <a:r>
              <a:rPr lang="en-US" dirty="0"/>
              <a:t/>
            </a:r>
            <a:br>
              <a:rPr lang="en-US" dirty="0"/>
            </a:b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725470"/>
          </a:xfrm>
        </p:spPr>
        <p:txBody>
          <a:bodyPr>
            <a:normAutofit fontScale="90000"/>
          </a:bodyPr>
          <a:lstStyle/>
          <a:p>
            <a:pPr algn="ctr"/>
            <a:r>
              <a:rPr lang="en-GB" b="1" u="sng" dirty="0" smtClean="0"/>
              <a:t>Abstract</a:t>
            </a:r>
            <a:r>
              <a:rPr lang="en-US" dirty="0"/>
              <a:t/>
            </a:r>
            <a:br>
              <a:rPr lang="en-US" dirty="0"/>
            </a:br>
            <a:endParaRPr lang="en-US" dirty="0"/>
          </a:p>
        </p:txBody>
      </p:sp>
      <p:sp>
        <p:nvSpPr>
          <p:cNvPr id="3" name="Content Placeholder 2"/>
          <p:cNvSpPr>
            <a:spLocks noGrp="1"/>
          </p:cNvSpPr>
          <p:nvPr>
            <p:ph idx="1"/>
          </p:nvPr>
        </p:nvSpPr>
        <p:spPr>
          <a:xfrm>
            <a:off x="1187624" y="1000108"/>
            <a:ext cx="7746064" cy="5957284"/>
          </a:xfrm>
        </p:spPr>
        <p:txBody>
          <a:bodyPr>
            <a:normAutofit/>
          </a:bodyPr>
          <a:lstStyle/>
          <a:p>
            <a:pPr marL="82296" indent="0">
              <a:buNone/>
            </a:pPr>
            <a:r>
              <a:rPr lang="en-US" sz="2000" b="1" dirty="0"/>
              <a:t>PROJECT TITLE        :  Insurance Management System</a:t>
            </a:r>
            <a:endParaRPr lang="en-US" sz="2000" dirty="0"/>
          </a:p>
          <a:p>
            <a:pPr marL="82296" indent="0">
              <a:buNone/>
            </a:pPr>
            <a:r>
              <a:rPr lang="en-US" sz="2000" b="1" dirty="0"/>
              <a:t>APPLICATION TYPE:  </a:t>
            </a:r>
            <a:r>
              <a:rPr lang="en-US" sz="2000" dirty="0"/>
              <a:t>Web </a:t>
            </a:r>
            <a:r>
              <a:rPr lang="en-US" sz="2000" dirty="0" smtClean="0"/>
              <a:t>Application</a:t>
            </a:r>
          </a:p>
          <a:p>
            <a:pPr marL="82296" indent="0">
              <a:buNone/>
            </a:pPr>
            <a:endParaRPr lang="en-US" sz="2000" dirty="0"/>
          </a:p>
          <a:p>
            <a:pPr marL="82296" indent="0">
              <a:buNone/>
            </a:pPr>
            <a:r>
              <a:rPr lang="en-US" sz="2000" b="1" dirty="0"/>
              <a:t>DESCRIPTION</a:t>
            </a:r>
            <a:endParaRPr lang="en-US" sz="2000" dirty="0"/>
          </a:p>
          <a:p>
            <a:pPr marL="82296" indent="0">
              <a:buNone/>
            </a:pPr>
            <a:r>
              <a:rPr lang="en-US" sz="2000" dirty="0"/>
              <a:t>The main purpose of this project is to estimate some important statistics of Micro insurance in the current market of India by gathering and analyzing data which is available. The statistics will be useful to prepare better insurance plans to boost up the Life Insurance industry in India. </a:t>
            </a:r>
          </a:p>
          <a:p>
            <a:pPr marL="82296" indent="0">
              <a:buNone/>
            </a:pPr>
            <a:r>
              <a:rPr lang="en-US" sz="2000" b="1" dirty="0"/>
              <a:t> </a:t>
            </a:r>
            <a:endParaRPr lang="en-US" sz="2000" dirty="0"/>
          </a:p>
          <a:p>
            <a:pPr marL="82296" indent="0">
              <a:buNone/>
            </a:pPr>
            <a:r>
              <a:rPr lang="en-US" sz="2000" b="1" dirty="0"/>
              <a:t>MODULES</a:t>
            </a:r>
            <a:endParaRPr lang="en-US" sz="2000" dirty="0"/>
          </a:p>
          <a:p>
            <a:pPr marL="82296" indent="0">
              <a:buNone/>
            </a:pPr>
            <a:r>
              <a:rPr lang="en-US" sz="2000" b="1" dirty="0"/>
              <a:t> </a:t>
            </a:r>
            <a:endParaRPr lang="en-US" sz="2000" dirty="0"/>
          </a:p>
          <a:p>
            <a:pPr lvl="0"/>
            <a:r>
              <a:rPr lang="en-US" sz="2000" u="sng" dirty="0"/>
              <a:t>Admin module:</a:t>
            </a:r>
            <a:r>
              <a:rPr lang="en-US" sz="2000" dirty="0"/>
              <a:t> This module allows only registered members to log in and manage the users and article.</a:t>
            </a:r>
          </a:p>
          <a:p>
            <a:pPr lvl="0"/>
            <a:r>
              <a:rPr lang="en-US" sz="2000" u="sng" dirty="0"/>
              <a:t>users module:</a:t>
            </a:r>
            <a:r>
              <a:rPr lang="en-US" sz="2000" dirty="0"/>
              <a:t> This module allows to known the premium details of the users and product details.</a:t>
            </a:r>
          </a:p>
          <a:p>
            <a:pPr marL="82296" indent="0">
              <a:lnSpc>
                <a:spcPct val="115000"/>
              </a:lnSpc>
              <a:spcAft>
                <a:spcPts val="1000"/>
              </a:spcAft>
              <a:buNone/>
            </a:pP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82296" marR="12700" indent="0" algn="just">
              <a:lnSpc>
                <a:spcPct val="114000"/>
              </a:lnSpc>
              <a:buNone/>
            </a:pPr>
            <a:endParaRPr lang="en-IN" sz="2400" dirty="0">
              <a:effectLst/>
              <a:latin typeface="Calibri" panose="020F0502020204030204" pitchFamily="34" charset="0"/>
              <a:ea typeface="Calibri" panose="020F050202020403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5369B0-BB9F-784F-4B98-FB926F0C3A62}"/>
              </a:ext>
            </a:extLst>
          </p:cNvPr>
          <p:cNvSpPr>
            <a:spLocks noGrp="1"/>
          </p:cNvSpPr>
          <p:nvPr>
            <p:ph type="title"/>
          </p:nvPr>
        </p:nvSpPr>
        <p:spPr>
          <a:xfrm>
            <a:off x="1435608" y="0"/>
            <a:ext cx="7498080" cy="980728"/>
          </a:xfrm>
        </p:spPr>
        <p:txBody>
          <a:bodyPr/>
          <a:lstStyle/>
          <a:p>
            <a:pPr algn="ctr"/>
            <a:r>
              <a:rPr lang="en-IN" b="1" dirty="0" smtClean="0"/>
              <a:t>Introduction</a:t>
            </a:r>
            <a:endParaRPr lang="en-IN" b="1" dirty="0"/>
          </a:p>
        </p:txBody>
      </p:sp>
      <p:sp>
        <p:nvSpPr>
          <p:cNvPr id="4" name="Content Placeholder 3"/>
          <p:cNvSpPr>
            <a:spLocks noGrp="1"/>
          </p:cNvSpPr>
          <p:nvPr>
            <p:ph idx="1"/>
          </p:nvPr>
        </p:nvSpPr>
        <p:spPr>
          <a:xfrm>
            <a:off x="1435608" y="836712"/>
            <a:ext cx="7498080" cy="5411688"/>
          </a:xfrm>
        </p:spPr>
        <p:txBody>
          <a:bodyPr>
            <a:normAutofit/>
          </a:bodyPr>
          <a:lstStyle/>
          <a:p>
            <a:pPr algn="just"/>
            <a:r>
              <a:rPr lang="en-IN" dirty="0"/>
              <a:t> </a:t>
            </a:r>
            <a:r>
              <a:rPr lang="en-US" dirty="0"/>
              <a:t>This web site is an online micro insurance Analysis and information management system that provides easy access of information regarding the people and resources of insurance. This site is not a static site but with wonderful dynamic facilities like search tools for insurance awareness articles, guidelines, illustrations through images for visitors. This site also provides several dynamic features. </a:t>
            </a:r>
          </a:p>
          <a:p>
            <a:pPr marL="82296" indent="0">
              <a:buNone/>
            </a:pPr>
            <a:endParaRPr lang="en-US" dirty="0"/>
          </a:p>
        </p:txBody>
      </p:sp>
    </p:spTree>
    <p:extLst>
      <p:ext uri="{BB962C8B-B14F-4D97-AF65-F5344CB8AC3E}">
        <p14:creationId xmlns:p14="http://schemas.microsoft.com/office/powerpoint/2010/main" val="91466262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8728" y="285728"/>
            <a:ext cx="7498080" cy="714380"/>
          </a:xfrm>
        </p:spPr>
        <p:txBody>
          <a:bodyPr>
            <a:normAutofit fontScale="90000"/>
          </a:bodyPr>
          <a:lstStyle/>
          <a:p>
            <a:pPr algn="ctr"/>
            <a:r>
              <a:rPr lang="en-US" sz="4400" b="1" u="sng" dirty="0"/>
              <a:t>Project</a:t>
            </a:r>
            <a:r>
              <a:rPr lang="en-US" sz="4900" b="1" u="sng" dirty="0"/>
              <a:t> </a:t>
            </a:r>
            <a:r>
              <a:rPr lang="en-US" sz="4400" b="1" u="sng" dirty="0"/>
              <a:t>Modules</a:t>
            </a:r>
            <a:r>
              <a:rPr lang="en-US" dirty="0"/>
              <a:t/>
            </a:r>
            <a:br>
              <a:rPr lang="en-US" dirty="0"/>
            </a:br>
            <a:endParaRPr lang="en-US" dirty="0"/>
          </a:p>
        </p:txBody>
      </p:sp>
      <p:sp>
        <p:nvSpPr>
          <p:cNvPr id="3" name="Content Placeholder 2"/>
          <p:cNvSpPr>
            <a:spLocks noGrp="1"/>
          </p:cNvSpPr>
          <p:nvPr>
            <p:ph idx="1"/>
          </p:nvPr>
        </p:nvSpPr>
        <p:spPr>
          <a:xfrm>
            <a:off x="1331640" y="857232"/>
            <a:ext cx="7602048" cy="5391168"/>
          </a:xfrm>
        </p:spPr>
        <p:txBody>
          <a:bodyPr>
            <a:normAutofit/>
          </a:bodyPr>
          <a:lstStyle/>
          <a:p>
            <a:r>
              <a:rPr lang="en-US" dirty="0"/>
              <a:t>In this project we use PHP and </a:t>
            </a:r>
            <a:r>
              <a:rPr lang="en-US" dirty="0" err="1"/>
              <a:t>Mysql</a:t>
            </a:r>
            <a:r>
              <a:rPr lang="en-US" dirty="0"/>
              <a:t> database. It has two module</a:t>
            </a:r>
          </a:p>
          <a:p>
            <a:pPr marL="82296" indent="0">
              <a:buNone/>
            </a:pPr>
            <a:r>
              <a:rPr lang="en-US" dirty="0"/>
              <a:t>1.User Module</a:t>
            </a:r>
          </a:p>
          <a:p>
            <a:pPr marL="82296" indent="0">
              <a:buNone/>
            </a:pPr>
            <a:r>
              <a:rPr lang="en-US" dirty="0"/>
              <a:t>2.Admin Module.</a:t>
            </a:r>
          </a:p>
          <a:p>
            <a:pPr marL="82296" indent="0">
              <a:buNone/>
            </a:pPr>
            <a:endParaRPr lang="en-US" dirty="0"/>
          </a:p>
          <a:p>
            <a:pPr marL="82296" indent="0">
              <a:lnSpc>
                <a:spcPct val="115000"/>
              </a:lnSpc>
              <a:spcAft>
                <a:spcPts val="1000"/>
              </a:spcAft>
              <a:buNone/>
            </a:pPr>
            <a:endParaRPr lang="en-IN" b="1" u="sng" dirty="0">
              <a:effectLst/>
              <a:latin typeface="Calibri" panose="020F0502020204030204" pitchFamily="34" charset="0"/>
              <a:ea typeface="Times New Roman" panose="02020603050405020304" pitchFamily="18" charset="0"/>
              <a:cs typeface="Times New Roman" panose="02020603050405020304" pitchFamily="18" charset="0"/>
            </a:endParaRPr>
          </a:p>
          <a:p>
            <a:pPr marL="82296" indent="0">
              <a:buNone/>
            </a:pP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5C94F28-49AE-774F-083E-DD44D65AB3B9}"/>
              </a:ext>
            </a:extLst>
          </p:cNvPr>
          <p:cNvSpPr>
            <a:spLocks noGrp="1"/>
          </p:cNvSpPr>
          <p:nvPr>
            <p:ph type="title"/>
          </p:nvPr>
        </p:nvSpPr>
        <p:spPr>
          <a:xfrm>
            <a:off x="1363020" y="-27776"/>
            <a:ext cx="7498080" cy="1080120"/>
          </a:xfrm>
        </p:spPr>
        <p:txBody>
          <a:bodyPr/>
          <a:lstStyle/>
          <a:p>
            <a:pPr algn="ctr"/>
            <a:r>
              <a:rPr lang="en-IN" b="1" dirty="0"/>
              <a:t>Admin Module</a:t>
            </a:r>
          </a:p>
        </p:txBody>
      </p:sp>
      <p:sp>
        <p:nvSpPr>
          <p:cNvPr id="3" name="Content Placeholder 2">
            <a:extLst>
              <a:ext uri="{FF2B5EF4-FFF2-40B4-BE49-F238E27FC236}">
                <a16:creationId xmlns:a16="http://schemas.microsoft.com/office/drawing/2014/main" xmlns="" id="{537E97F1-8CFB-5A8E-5E21-EF71AA6F3E85}"/>
              </a:ext>
            </a:extLst>
          </p:cNvPr>
          <p:cNvSpPr>
            <a:spLocks noGrp="1"/>
          </p:cNvSpPr>
          <p:nvPr>
            <p:ph idx="1"/>
          </p:nvPr>
        </p:nvSpPr>
        <p:spPr>
          <a:xfrm>
            <a:off x="1187624" y="908720"/>
            <a:ext cx="7848872" cy="5904656"/>
          </a:xfrm>
        </p:spPr>
        <p:txBody>
          <a:bodyPr>
            <a:normAutofit/>
          </a:bodyPr>
          <a:lstStyle/>
          <a:p>
            <a:r>
              <a:rPr lang="en-US" sz="1800" b="1" dirty="0"/>
              <a:t>1.</a:t>
            </a:r>
            <a:r>
              <a:rPr lang="en-US" sz="1800" dirty="0"/>
              <a:t> </a:t>
            </a:r>
            <a:r>
              <a:rPr lang="en-US" sz="1800" b="1" dirty="0"/>
              <a:t>Dashboard</a:t>
            </a:r>
            <a:r>
              <a:rPr lang="en-US" sz="1800" dirty="0"/>
              <a:t>: In this section admin can see all detail in brief.</a:t>
            </a:r>
          </a:p>
          <a:p>
            <a:r>
              <a:rPr lang="en-US" sz="1800" b="1" dirty="0"/>
              <a:t>2.</a:t>
            </a:r>
            <a:r>
              <a:rPr lang="en-US" sz="1800" dirty="0"/>
              <a:t> </a:t>
            </a:r>
            <a:r>
              <a:rPr lang="en-US" sz="1800" b="1" dirty="0"/>
              <a:t>Insurance Category</a:t>
            </a:r>
            <a:r>
              <a:rPr lang="en-US" sz="1800" dirty="0"/>
              <a:t>: In this section admin can manage categories(add and update).</a:t>
            </a:r>
          </a:p>
          <a:p>
            <a:r>
              <a:rPr lang="en-US" sz="1800" b="1" dirty="0"/>
              <a:t>3.</a:t>
            </a:r>
            <a:r>
              <a:rPr lang="en-US" sz="1800" dirty="0"/>
              <a:t> </a:t>
            </a:r>
            <a:r>
              <a:rPr lang="en-US" sz="1800" b="1" dirty="0"/>
              <a:t>Insurance Subcategory</a:t>
            </a:r>
            <a:r>
              <a:rPr lang="en-US" sz="1800" dirty="0"/>
              <a:t>: In this section admin can manage sub category(add and update).</a:t>
            </a:r>
          </a:p>
          <a:p>
            <a:r>
              <a:rPr lang="en-US" sz="1800" b="1" dirty="0"/>
              <a:t>4.</a:t>
            </a:r>
            <a:r>
              <a:rPr lang="en-US" sz="1800" dirty="0"/>
              <a:t> </a:t>
            </a:r>
            <a:r>
              <a:rPr lang="en-US" sz="1800" b="1" dirty="0"/>
              <a:t>Insurance Policy</a:t>
            </a:r>
            <a:r>
              <a:rPr lang="en-US" sz="1800" dirty="0"/>
              <a:t>: In this section admin can manage insurance policy(add and update policy).</a:t>
            </a:r>
          </a:p>
          <a:p>
            <a:r>
              <a:rPr lang="en-US" sz="1800" b="1" dirty="0"/>
              <a:t>5.</a:t>
            </a:r>
            <a:r>
              <a:rPr lang="en-US" sz="1800" dirty="0"/>
              <a:t> </a:t>
            </a:r>
            <a:r>
              <a:rPr lang="en-US" sz="1800" b="1" dirty="0"/>
              <a:t>User Detail</a:t>
            </a:r>
            <a:r>
              <a:rPr lang="en-US" sz="1800" dirty="0"/>
              <a:t>: In this section admin can manage all user detail.</a:t>
            </a:r>
          </a:p>
          <a:p>
            <a:r>
              <a:rPr lang="en-US" sz="1800" b="1" dirty="0"/>
              <a:t>6.</a:t>
            </a:r>
            <a:r>
              <a:rPr lang="en-US" sz="1800" dirty="0"/>
              <a:t> </a:t>
            </a:r>
            <a:r>
              <a:rPr lang="en-US" sz="1800" b="1" dirty="0"/>
              <a:t>Policy Holders</a:t>
            </a:r>
            <a:r>
              <a:rPr lang="en-US" sz="1800" dirty="0"/>
              <a:t>: In this section admin can manage all insured policy. Admin can view policy on the basis of status(pending policy, approved policy and disapproved policy). Admin also can approve pending policy.</a:t>
            </a:r>
          </a:p>
          <a:p>
            <a:r>
              <a:rPr lang="en-US" sz="1800" b="1" dirty="0"/>
              <a:t>7. Tickets:</a:t>
            </a:r>
            <a:r>
              <a:rPr lang="en-US" sz="1800" dirty="0"/>
              <a:t> In this section admin can view detail of issues raised by user and can also update remark on particular tickets.</a:t>
            </a:r>
          </a:p>
          <a:p>
            <a:r>
              <a:rPr lang="en-US" sz="1800" b="1" dirty="0"/>
              <a:t>8. Reports</a:t>
            </a:r>
            <a:r>
              <a:rPr lang="en-US" sz="1800" dirty="0"/>
              <a:t>: In this section, admin generate between dates report of ticket generation and policy request.</a:t>
            </a:r>
          </a:p>
          <a:p>
            <a:r>
              <a:rPr lang="en-US" sz="1800" b="1" dirty="0"/>
              <a:t>9. Search</a:t>
            </a:r>
            <a:r>
              <a:rPr lang="en-US" sz="1800" dirty="0"/>
              <a:t>: In this section, admin can search ticket and policy.</a:t>
            </a:r>
          </a:p>
          <a:p>
            <a:r>
              <a:rPr lang="en-US" sz="1800" dirty="0"/>
              <a:t>Admin can also update his profile and change his password</a:t>
            </a:r>
          </a:p>
          <a:p>
            <a:pPr marL="0" lvl="0" indent="0">
              <a:lnSpc>
                <a:spcPct val="115000"/>
              </a:lnSpc>
              <a:buNone/>
            </a:pPr>
            <a:endParaRPr lang="en-IN" sz="18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25042728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43408"/>
            <a:ext cx="7498080" cy="1152128"/>
          </a:xfrm>
        </p:spPr>
        <p:txBody>
          <a:bodyPr/>
          <a:lstStyle/>
          <a:p>
            <a:pPr algn="ctr"/>
            <a:r>
              <a:rPr lang="en-US" b="1" dirty="0" smtClean="0"/>
              <a:t>User Module</a:t>
            </a:r>
            <a:endParaRPr lang="en-US" b="1" dirty="0"/>
          </a:p>
        </p:txBody>
      </p:sp>
      <p:sp>
        <p:nvSpPr>
          <p:cNvPr id="3" name="Content Placeholder 2"/>
          <p:cNvSpPr>
            <a:spLocks noGrp="1"/>
          </p:cNvSpPr>
          <p:nvPr>
            <p:ph idx="1"/>
          </p:nvPr>
        </p:nvSpPr>
        <p:spPr>
          <a:xfrm>
            <a:off x="1435608" y="908720"/>
            <a:ext cx="7498080" cy="5339680"/>
          </a:xfrm>
        </p:spPr>
        <p:txBody>
          <a:bodyPr>
            <a:normAutofit lnSpcReduction="10000"/>
          </a:bodyPr>
          <a:lstStyle/>
          <a:p>
            <a:r>
              <a:rPr lang="en-US" dirty="0"/>
              <a:t>1. </a:t>
            </a:r>
            <a:r>
              <a:rPr lang="en-US" b="1" dirty="0"/>
              <a:t>Dashboard</a:t>
            </a:r>
            <a:r>
              <a:rPr lang="en-US" dirty="0"/>
              <a:t>: In this section, user can see all detail in brief.</a:t>
            </a:r>
          </a:p>
          <a:p>
            <a:r>
              <a:rPr lang="en-US" dirty="0"/>
              <a:t>2. </a:t>
            </a:r>
            <a:r>
              <a:rPr lang="en-US" b="1" dirty="0"/>
              <a:t>Insurance</a:t>
            </a:r>
            <a:r>
              <a:rPr lang="en-US" dirty="0"/>
              <a:t> : In this section, user can apply for policy and check his policy is approve or reject(which is done by admin).</a:t>
            </a:r>
          </a:p>
          <a:p>
            <a:r>
              <a:rPr lang="en-US" dirty="0"/>
              <a:t>3. </a:t>
            </a:r>
            <a:r>
              <a:rPr lang="en-US" b="1" dirty="0"/>
              <a:t>Ticket</a:t>
            </a:r>
            <a:r>
              <a:rPr lang="en-US" dirty="0"/>
              <a:t>: In this section, user can raise ticket against any complain and see status of his/her ticket </a:t>
            </a:r>
          </a:p>
          <a:p>
            <a:r>
              <a:rPr lang="en-US" dirty="0"/>
              <a:t>User can also update his/ her profile, change password and recover password.</a:t>
            </a:r>
          </a:p>
          <a:p>
            <a:endParaRPr lang="en-US" dirty="0"/>
          </a:p>
        </p:txBody>
      </p:sp>
    </p:spTree>
    <p:extLst>
      <p:ext uri="{BB962C8B-B14F-4D97-AF65-F5344CB8AC3E}">
        <p14:creationId xmlns:p14="http://schemas.microsoft.com/office/powerpoint/2010/main" val="29147112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u="sng" dirty="0"/>
              <a:t>Requirement Specification</a:t>
            </a:r>
            <a:r>
              <a:rPr lang="en-US" dirty="0"/>
              <a:t/>
            </a:r>
            <a:br>
              <a:rPr lang="en-US" dirty="0"/>
            </a:br>
            <a:endParaRPr lang="en-US" dirty="0"/>
          </a:p>
        </p:txBody>
      </p:sp>
      <p:sp>
        <p:nvSpPr>
          <p:cNvPr id="3" name="Content Placeholder 2"/>
          <p:cNvSpPr>
            <a:spLocks noGrp="1"/>
          </p:cNvSpPr>
          <p:nvPr>
            <p:ph idx="1"/>
          </p:nvPr>
        </p:nvSpPr>
        <p:spPr>
          <a:xfrm>
            <a:off x="1435608" y="1142984"/>
            <a:ext cx="7498080" cy="5105416"/>
          </a:xfrm>
        </p:spPr>
        <p:txBody>
          <a:bodyPr/>
          <a:lstStyle/>
          <a:p>
            <a:pPr>
              <a:buFont typeface="Wingdings" pitchFamily="2" charset="2"/>
              <a:buChar char="Ø"/>
            </a:pPr>
            <a:r>
              <a:rPr lang="en-US" sz="2000" b="1" u="sng" dirty="0"/>
              <a:t>Hardware Configuration:</a:t>
            </a:r>
            <a:endParaRPr lang="en-US" sz="2000" dirty="0"/>
          </a:p>
          <a:p>
            <a:pPr>
              <a:buNone/>
            </a:pPr>
            <a:r>
              <a:rPr lang="en-IN" sz="2400" dirty="0"/>
              <a:t>    </a:t>
            </a:r>
            <a:r>
              <a:rPr lang="en-IN" sz="1800" b="1" dirty="0"/>
              <a:t>Client Side</a:t>
            </a:r>
          </a:p>
          <a:p>
            <a:pPr>
              <a:buNone/>
            </a:pPr>
            <a:endParaRPr lang="en-IN" sz="1800" b="1" dirty="0"/>
          </a:p>
          <a:p>
            <a:pPr>
              <a:buNone/>
            </a:pPr>
            <a:endParaRPr lang="en-IN" sz="1800" b="1" dirty="0"/>
          </a:p>
          <a:p>
            <a:pPr>
              <a:buNone/>
            </a:pPr>
            <a:endParaRPr lang="en-IN" sz="1800" b="1" dirty="0"/>
          </a:p>
          <a:p>
            <a:pPr>
              <a:buNone/>
            </a:pPr>
            <a:r>
              <a:rPr lang="en-IN" sz="1800" b="1" dirty="0"/>
              <a:t>  </a:t>
            </a:r>
          </a:p>
          <a:p>
            <a:pPr>
              <a:buNone/>
            </a:pPr>
            <a:r>
              <a:rPr lang="en-IN" sz="1800" b="1" dirty="0"/>
              <a:t>  </a:t>
            </a:r>
          </a:p>
          <a:p>
            <a:pPr>
              <a:buNone/>
            </a:pPr>
            <a:r>
              <a:rPr lang="en-IN" sz="1800" b="1" dirty="0"/>
              <a:t>    Server Side</a:t>
            </a:r>
            <a:endParaRPr lang="en-US" sz="2400" b="1" dirty="0"/>
          </a:p>
        </p:txBody>
      </p:sp>
      <p:graphicFrame>
        <p:nvGraphicFramePr>
          <p:cNvPr id="4" name="Table 3"/>
          <p:cNvGraphicFramePr>
            <a:graphicFrameLocks noGrp="1"/>
          </p:cNvGraphicFramePr>
          <p:nvPr/>
        </p:nvGraphicFramePr>
        <p:xfrm>
          <a:off x="1857356" y="4429132"/>
          <a:ext cx="6096000" cy="110744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xmlns="" val="20000"/>
                    </a:ext>
                  </a:extLst>
                </a:gridCol>
                <a:gridCol w="3048000">
                  <a:extLst>
                    <a:ext uri="{9D8B030D-6E8A-4147-A177-3AD203B41FA5}">
                      <a16:colId xmlns:a16="http://schemas.microsoft.com/office/drawing/2014/main" xmlns="" val="20001"/>
                    </a:ext>
                  </a:extLst>
                </a:gridCol>
              </a:tblGrid>
              <a:tr h="0">
                <a:tc>
                  <a:txBody>
                    <a:bodyPr/>
                    <a:lstStyle/>
                    <a:p>
                      <a:r>
                        <a:rPr lang="en-IN" dirty="0"/>
                        <a:t>RAM</a:t>
                      </a:r>
                      <a:endParaRPr lang="en-US" dirty="0"/>
                    </a:p>
                  </a:txBody>
                  <a:tcPr/>
                </a:tc>
                <a:tc>
                  <a:txBody>
                    <a:bodyPr/>
                    <a:lstStyle/>
                    <a:p>
                      <a:r>
                        <a:rPr lang="en-IN" dirty="0"/>
                        <a:t>1 GB</a:t>
                      </a:r>
                      <a:endParaRPr lang="en-US" dirty="0"/>
                    </a:p>
                  </a:txBody>
                  <a:tcPr/>
                </a:tc>
                <a:extLst>
                  <a:ext uri="{0D108BD9-81ED-4DB2-BD59-A6C34878D82A}">
                    <a16:rowId xmlns:a16="http://schemas.microsoft.com/office/drawing/2014/main" xmlns="" val="10000"/>
                  </a:ext>
                </a:extLst>
              </a:tr>
              <a:tr h="370840">
                <a:tc>
                  <a:txBody>
                    <a:bodyPr/>
                    <a:lstStyle/>
                    <a:p>
                      <a:r>
                        <a:rPr lang="en-IN" dirty="0"/>
                        <a:t>Hard Disk</a:t>
                      </a:r>
                      <a:endParaRPr lang="en-US" dirty="0"/>
                    </a:p>
                  </a:txBody>
                  <a:tcPr/>
                </a:tc>
                <a:tc>
                  <a:txBody>
                    <a:bodyPr/>
                    <a:lstStyle/>
                    <a:p>
                      <a:r>
                        <a:rPr lang="en-IN" dirty="0"/>
                        <a:t>20GB</a:t>
                      </a:r>
                      <a:endParaRPr lang="en-US" dirty="0"/>
                    </a:p>
                  </a:txBody>
                  <a:tcPr/>
                </a:tc>
                <a:extLst>
                  <a:ext uri="{0D108BD9-81ED-4DB2-BD59-A6C34878D82A}">
                    <a16:rowId xmlns:a16="http://schemas.microsoft.com/office/drawing/2014/main" xmlns="" val="10001"/>
                  </a:ext>
                </a:extLst>
              </a:tr>
              <a:tr h="370840">
                <a:tc>
                  <a:txBody>
                    <a:bodyPr/>
                    <a:lstStyle/>
                    <a:p>
                      <a:r>
                        <a:rPr lang="en-IN" dirty="0"/>
                        <a:t>Processor</a:t>
                      </a:r>
                      <a:endParaRPr lang="en-US" dirty="0"/>
                    </a:p>
                  </a:txBody>
                  <a:tcPr/>
                </a:tc>
                <a:tc>
                  <a:txBody>
                    <a:bodyPr/>
                    <a:lstStyle/>
                    <a:p>
                      <a:r>
                        <a:rPr lang="en-IN" dirty="0"/>
                        <a:t>2.0GHz</a:t>
                      </a:r>
                      <a:endParaRPr lang="en-US" dirty="0"/>
                    </a:p>
                  </a:txBody>
                  <a:tcPr/>
                </a:tc>
                <a:extLst>
                  <a:ext uri="{0D108BD9-81ED-4DB2-BD59-A6C34878D82A}">
                    <a16:rowId xmlns:a16="http://schemas.microsoft.com/office/drawing/2014/main" xmlns="" val="10002"/>
                  </a:ext>
                </a:extLst>
              </a:tr>
            </a:tbl>
          </a:graphicData>
        </a:graphic>
      </p:graphicFrame>
      <p:graphicFrame>
        <p:nvGraphicFramePr>
          <p:cNvPr id="5" name="Table 4"/>
          <p:cNvGraphicFramePr>
            <a:graphicFrameLocks noGrp="1"/>
          </p:cNvGraphicFramePr>
          <p:nvPr/>
        </p:nvGraphicFramePr>
        <p:xfrm>
          <a:off x="1785918" y="2285992"/>
          <a:ext cx="6096000" cy="111252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xmlns="" val="20000"/>
                    </a:ext>
                  </a:extLst>
                </a:gridCol>
                <a:gridCol w="3048000">
                  <a:extLst>
                    <a:ext uri="{9D8B030D-6E8A-4147-A177-3AD203B41FA5}">
                      <a16:colId xmlns:a16="http://schemas.microsoft.com/office/drawing/2014/main" xmlns="" val="20001"/>
                    </a:ext>
                  </a:extLst>
                </a:gridCol>
              </a:tblGrid>
              <a:tr h="370840">
                <a:tc>
                  <a:txBody>
                    <a:bodyPr/>
                    <a:lstStyle/>
                    <a:p>
                      <a:r>
                        <a:rPr lang="en-IN" dirty="0"/>
                        <a:t>RAM</a:t>
                      </a:r>
                      <a:endParaRPr lang="en-US" dirty="0"/>
                    </a:p>
                  </a:txBody>
                  <a:tcPr/>
                </a:tc>
                <a:tc>
                  <a:txBody>
                    <a:bodyPr/>
                    <a:lstStyle/>
                    <a:p>
                      <a:r>
                        <a:rPr lang="en-IN" dirty="0"/>
                        <a:t>512 MB</a:t>
                      </a:r>
                      <a:endParaRPr lang="en-US" dirty="0"/>
                    </a:p>
                  </a:txBody>
                  <a:tcPr/>
                </a:tc>
                <a:extLst>
                  <a:ext uri="{0D108BD9-81ED-4DB2-BD59-A6C34878D82A}">
                    <a16:rowId xmlns:a16="http://schemas.microsoft.com/office/drawing/2014/main" xmlns="" val="10000"/>
                  </a:ext>
                </a:extLst>
              </a:tr>
              <a:tr h="370840">
                <a:tc>
                  <a:txBody>
                    <a:bodyPr/>
                    <a:lstStyle/>
                    <a:p>
                      <a:r>
                        <a:rPr lang="en-IN" dirty="0"/>
                        <a:t>Hard Disk</a:t>
                      </a:r>
                      <a:endParaRPr lang="en-US" dirty="0"/>
                    </a:p>
                  </a:txBody>
                  <a:tcPr/>
                </a:tc>
                <a:tc>
                  <a:txBody>
                    <a:bodyPr/>
                    <a:lstStyle/>
                    <a:p>
                      <a:r>
                        <a:rPr lang="en-IN" dirty="0"/>
                        <a:t>10GB</a:t>
                      </a:r>
                      <a:endParaRPr lang="en-US" dirty="0"/>
                    </a:p>
                  </a:txBody>
                  <a:tcPr/>
                </a:tc>
                <a:extLst>
                  <a:ext uri="{0D108BD9-81ED-4DB2-BD59-A6C34878D82A}">
                    <a16:rowId xmlns:a16="http://schemas.microsoft.com/office/drawing/2014/main" xmlns="" val="10001"/>
                  </a:ext>
                </a:extLst>
              </a:tr>
              <a:tr h="370840">
                <a:tc>
                  <a:txBody>
                    <a:bodyPr/>
                    <a:lstStyle/>
                    <a:p>
                      <a:r>
                        <a:rPr lang="en-IN" dirty="0"/>
                        <a:t>Processor</a:t>
                      </a:r>
                      <a:endParaRPr lang="en-US" dirty="0"/>
                    </a:p>
                  </a:txBody>
                  <a:tcPr/>
                </a:tc>
                <a:tc>
                  <a:txBody>
                    <a:bodyPr/>
                    <a:lstStyle/>
                    <a:p>
                      <a:r>
                        <a:rPr lang="en-IN" dirty="0"/>
                        <a:t>1.0 GHz</a:t>
                      </a:r>
                      <a:endParaRPr lang="en-US" dirty="0"/>
                    </a:p>
                  </a:txBody>
                  <a:tcPr/>
                </a:tc>
                <a:extLst>
                  <a:ext uri="{0D108BD9-81ED-4DB2-BD59-A6C34878D82A}">
                    <a16:rowId xmlns:a16="http://schemas.microsoft.com/office/drawing/2014/main" xmlns="" val="10002"/>
                  </a:ext>
                </a:extLst>
              </a:tr>
            </a:tbl>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0"/>
            <a:ext cx="7498080" cy="785794"/>
          </a:xfrm>
        </p:spPr>
        <p:txBody>
          <a:bodyPr/>
          <a:lstStyle/>
          <a:p>
            <a:pPr algn="ctr"/>
            <a:r>
              <a:rPr lang="en-IN" b="1" dirty="0"/>
              <a:t>Continue.....</a:t>
            </a:r>
            <a:endParaRPr lang="en-US" b="1" dirty="0"/>
          </a:p>
        </p:txBody>
      </p:sp>
      <p:sp>
        <p:nvSpPr>
          <p:cNvPr id="3" name="Content Placeholder 2"/>
          <p:cNvSpPr>
            <a:spLocks noGrp="1"/>
          </p:cNvSpPr>
          <p:nvPr>
            <p:ph idx="1"/>
          </p:nvPr>
        </p:nvSpPr>
        <p:spPr>
          <a:xfrm>
            <a:off x="1435608" y="928670"/>
            <a:ext cx="7498080" cy="5319730"/>
          </a:xfrm>
        </p:spPr>
        <p:txBody>
          <a:bodyPr/>
          <a:lstStyle/>
          <a:p>
            <a:r>
              <a:rPr lang="en-US" sz="2000" b="1" u="sng" dirty="0"/>
              <a:t>Software Requirement:</a:t>
            </a:r>
          </a:p>
          <a:p>
            <a:pPr>
              <a:buNone/>
            </a:pPr>
            <a:r>
              <a:rPr lang="en-IN" sz="1800" b="1" dirty="0"/>
              <a:t>    Client Side</a:t>
            </a:r>
          </a:p>
          <a:p>
            <a:endParaRPr lang="en-IN" sz="2000" b="1" u="sng" dirty="0"/>
          </a:p>
          <a:p>
            <a:endParaRPr lang="en-IN" sz="2000" b="1" u="sng" dirty="0"/>
          </a:p>
          <a:p>
            <a:pPr>
              <a:buNone/>
            </a:pPr>
            <a:endParaRPr lang="en-US" sz="2000" b="1" u="sng" dirty="0"/>
          </a:p>
          <a:p>
            <a:pPr>
              <a:buNone/>
            </a:pPr>
            <a:r>
              <a:rPr lang="en-IN" sz="2000" dirty="0"/>
              <a:t> </a:t>
            </a:r>
          </a:p>
          <a:p>
            <a:pPr>
              <a:buNone/>
            </a:pPr>
            <a:r>
              <a:rPr lang="en-IN" sz="1800" b="1" dirty="0"/>
              <a:t>  Server Side</a:t>
            </a:r>
          </a:p>
          <a:p>
            <a:pPr>
              <a:buNone/>
            </a:pPr>
            <a:endParaRPr lang="en-US" sz="1800" b="1" dirty="0"/>
          </a:p>
        </p:txBody>
      </p:sp>
      <p:graphicFrame>
        <p:nvGraphicFramePr>
          <p:cNvPr id="4" name="Table 3"/>
          <p:cNvGraphicFramePr>
            <a:graphicFrameLocks noGrp="1"/>
          </p:cNvGraphicFramePr>
          <p:nvPr/>
        </p:nvGraphicFramePr>
        <p:xfrm>
          <a:off x="1643042" y="1857364"/>
          <a:ext cx="6905652" cy="1010920"/>
        </p:xfrm>
        <a:graphic>
          <a:graphicData uri="http://schemas.openxmlformats.org/drawingml/2006/table">
            <a:tbl>
              <a:tblPr firstRow="1" bandRow="1">
                <a:tableStyleId>{5C22544A-7EE6-4342-B048-85BDC9FD1C3A}</a:tableStyleId>
              </a:tblPr>
              <a:tblGrid>
                <a:gridCol w="3452826">
                  <a:extLst>
                    <a:ext uri="{9D8B030D-6E8A-4147-A177-3AD203B41FA5}">
                      <a16:colId xmlns:a16="http://schemas.microsoft.com/office/drawing/2014/main" xmlns="" val="20000"/>
                    </a:ext>
                  </a:extLst>
                </a:gridCol>
                <a:gridCol w="3452826">
                  <a:extLst>
                    <a:ext uri="{9D8B030D-6E8A-4147-A177-3AD203B41FA5}">
                      <a16:colId xmlns:a16="http://schemas.microsoft.com/office/drawing/2014/main" xmlns="" val="20001"/>
                    </a:ext>
                  </a:extLst>
                </a:gridCol>
              </a:tblGrid>
              <a:tr h="370840">
                <a:tc>
                  <a:txBody>
                    <a:bodyPr/>
                    <a:lstStyle/>
                    <a:p>
                      <a:r>
                        <a:rPr lang="en-IN" dirty="0"/>
                        <a:t>Web Browser</a:t>
                      </a:r>
                      <a:endParaRPr lang="en-US" dirty="0"/>
                    </a:p>
                  </a:txBody>
                  <a:tcPr/>
                </a:tc>
                <a:tc>
                  <a:txBody>
                    <a:bodyPr/>
                    <a:lstStyle/>
                    <a:p>
                      <a:r>
                        <a:rPr kumimoji="0" lang="en-US" sz="1800" b="1" kern="1200" dirty="0">
                          <a:solidFill>
                            <a:schemeClr val="lt1"/>
                          </a:solidFill>
                          <a:latin typeface="+mn-lt"/>
                          <a:ea typeface="+mn-ea"/>
                          <a:cs typeface="+mn-cs"/>
                        </a:rPr>
                        <a:t>Google Chrome or any compatible browser</a:t>
                      </a:r>
                      <a:endParaRPr lang="en-US" dirty="0"/>
                    </a:p>
                  </a:txBody>
                  <a:tcPr/>
                </a:tc>
                <a:extLst>
                  <a:ext uri="{0D108BD9-81ED-4DB2-BD59-A6C34878D82A}">
                    <a16:rowId xmlns:a16="http://schemas.microsoft.com/office/drawing/2014/main" xmlns="" val="10000"/>
                  </a:ext>
                </a:extLst>
              </a:tr>
              <a:tr h="370840">
                <a:tc>
                  <a:txBody>
                    <a:bodyPr/>
                    <a:lstStyle/>
                    <a:p>
                      <a:r>
                        <a:rPr kumimoji="0" lang="en-US" sz="1800" b="1" kern="1200" dirty="0">
                          <a:solidFill>
                            <a:schemeClr val="dk1"/>
                          </a:solidFill>
                          <a:latin typeface="+mn-lt"/>
                          <a:ea typeface="+mn-ea"/>
                          <a:cs typeface="+mn-cs"/>
                        </a:rPr>
                        <a:t>Operating System</a:t>
                      </a:r>
                      <a:endParaRPr lang="en-US" dirty="0"/>
                    </a:p>
                  </a:txBody>
                  <a:tcPr/>
                </a:tc>
                <a:tc>
                  <a:txBody>
                    <a:bodyPr/>
                    <a:lstStyle/>
                    <a:p>
                      <a:r>
                        <a:rPr kumimoji="0" lang="en-US" sz="1800" kern="1200" dirty="0">
                          <a:solidFill>
                            <a:schemeClr val="dk1"/>
                          </a:solidFill>
                          <a:latin typeface="+mn-lt"/>
                          <a:ea typeface="+mn-ea"/>
                          <a:cs typeface="+mn-cs"/>
                        </a:rPr>
                        <a:t>Windows or any equivalent OS</a:t>
                      </a:r>
                      <a:endParaRPr lang="en-US" dirty="0"/>
                    </a:p>
                  </a:txBody>
                  <a:tcPr/>
                </a:tc>
                <a:extLst>
                  <a:ext uri="{0D108BD9-81ED-4DB2-BD59-A6C34878D82A}">
                    <a16:rowId xmlns:a16="http://schemas.microsoft.com/office/drawing/2014/main" xmlns="" val="10001"/>
                  </a:ext>
                </a:extLst>
              </a:tr>
            </a:tbl>
          </a:graphicData>
        </a:graphic>
      </p:graphicFrame>
      <p:graphicFrame>
        <p:nvGraphicFramePr>
          <p:cNvPr id="5" name="Table 4"/>
          <p:cNvGraphicFramePr>
            <a:graphicFrameLocks noGrp="1"/>
          </p:cNvGraphicFramePr>
          <p:nvPr/>
        </p:nvGraphicFramePr>
        <p:xfrm>
          <a:off x="1714480" y="3929066"/>
          <a:ext cx="6715172" cy="2123440"/>
        </p:xfrm>
        <a:graphic>
          <a:graphicData uri="http://schemas.openxmlformats.org/drawingml/2006/table">
            <a:tbl>
              <a:tblPr firstRow="1" bandRow="1">
                <a:tableStyleId>{5C22544A-7EE6-4342-B048-85BDC9FD1C3A}</a:tableStyleId>
              </a:tblPr>
              <a:tblGrid>
                <a:gridCol w="3357586">
                  <a:extLst>
                    <a:ext uri="{9D8B030D-6E8A-4147-A177-3AD203B41FA5}">
                      <a16:colId xmlns:a16="http://schemas.microsoft.com/office/drawing/2014/main" xmlns="" val="20000"/>
                    </a:ext>
                  </a:extLst>
                </a:gridCol>
                <a:gridCol w="3357586">
                  <a:extLst>
                    <a:ext uri="{9D8B030D-6E8A-4147-A177-3AD203B41FA5}">
                      <a16:colId xmlns:a16="http://schemas.microsoft.com/office/drawing/2014/main" xmlns="" val="20001"/>
                    </a:ext>
                  </a:extLst>
                </a:gridCol>
              </a:tblGrid>
              <a:tr h="370840">
                <a:tc>
                  <a:txBody>
                    <a:bodyPr/>
                    <a:lstStyle/>
                    <a:p>
                      <a:r>
                        <a:rPr kumimoji="0" lang="en-US" sz="1800" b="1" kern="1200" dirty="0">
                          <a:solidFill>
                            <a:schemeClr val="lt1"/>
                          </a:solidFill>
                          <a:latin typeface="+mn-lt"/>
                          <a:ea typeface="+mn-ea"/>
                          <a:cs typeface="+mn-cs"/>
                        </a:rPr>
                        <a:t>Web Server</a:t>
                      </a:r>
                      <a:endParaRPr lang="en-US" dirty="0"/>
                    </a:p>
                  </a:txBody>
                  <a:tcPr/>
                </a:tc>
                <a:tc>
                  <a:txBody>
                    <a:bodyPr/>
                    <a:lstStyle/>
                    <a:p>
                      <a:r>
                        <a:rPr kumimoji="0" lang="en-US" sz="1800" b="1" kern="1200" dirty="0">
                          <a:solidFill>
                            <a:schemeClr val="lt1"/>
                          </a:solidFill>
                          <a:latin typeface="+mn-lt"/>
                          <a:ea typeface="+mn-ea"/>
                          <a:cs typeface="+mn-cs"/>
                        </a:rPr>
                        <a:t>APACHE</a:t>
                      </a:r>
                      <a:endParaRPr lang="en-US" dirty="0"/>
                    </a:p>
                  </a:txBody>
                  <a:tcPr/>
                </a:tc>
                <a:extLst>
                  <a:ext uri="{0D108BD9-81ED-4DB2-BD59-A6C34878D82A}">
                    <a16:rowId xmlns:a16="http://schemas.microsoft.com/office/drawing/2014/main" xmlns="" val="10000"/>
                  </a:ext>
                </a:extLst>
              </a:tr>
              <a:tr h="370840">
                <a:tc>
                  <a:txBody>
                    <a:bodyPr/>
                    <a:lstStyle/>
                    <a:p>
                      <a:r>
                        <a:rPr kumimoji="0" lang="en-US" sz="1800" b="1" kern="1200" dirty="0">
                          <a:solidFill>
                            <a:schemeClr val="dk1"/>
                          </a:solidFill>
                          <a:latin typeface="+mn-lt"/>
                          <a:ea typeface="+mn-ea"/>
                          <a:cs typeface="+mn-cs"/>
                        </a:rPr>
                        <a:t>Server side Language</a:t>
                      </a:r>
                      <a:endParaRPr lang="en-US" dirty="0"/>
                    </a:p>
                  </a:txBody>
                  <a:tcPr/>
                </a:tc>
                <a:tc>
                  <a:txBody>
                    <a:bodyPr/>
                    <a:lstStyle/>
                    <a:p>
                      <a:r>
                        <a:rPr kumimoji="0" lang="en-US" sz="1800" kern="1200" dirty="0">
                          <a:solidFill>
                            <a:schemeClr val="dk1"/>
                          </a:solidFill>
                          <a:latin typeface="+mn-lt"/>
                          <a:ea typeface="+mn-ea"/>
                          <a:cs typeface="+mn-cs"/>
                        </a:rPr>
                        <a:t>PHP5.6 or above version</a:t>
                      </a:r>
                      <a:endParaRPr lang="en-US" dirty="0"/>
                    </a:p>
                  </a:txBody>
                  <a:tcPr/>
                </a:tc>
                <a:extLst>
                  <a:ext uri="{0D108BD9-81ED-4DB2-BD59-A6C34878D82A}">
                    <a16:rowId xmlns:a16="http://schemas.microsoft.com/office/drawing/2014/main" xmlns="" val="10001"/>
                  </a:ext>
                </a:extLst>
              </a:tr>
              <a:tr h="370840">
                <a:tc>
                  <a:txBody>
                    <a:bodyPr/>
                    <a:lstStyle/>
                    <a:p>
                      <a:r>
                        <a:rPr kumimoji="0" lang="en-US" sz="1800" b="1" kern="1200" dirty="0">
                          <a:solidFill>
                            <a:schemeClr val="dk1"/>
                          </a:solidFill>
                          <a:latin typeface="+mn-lt"/>
                          <a:ea typeface="+mn-ea"/>
                          <a:cs typeface="+mn-cs"/>
                        </a:rPr>
                        <a:t>Database Server</a:t>
                      </a:r>
                      <a:endParaRPr lang="en-US" dirty="0"/>
                    </a:p>
                  </a:txBody>
                  <a:tcPr/>
                </a:tc>
                <a:tc>
                  <a:txBody>
                    <a:bodyPr/>
                    <a:lstStyle/>
                    <a:p>
                      <a:r>
                        <a:rPr kumimoji="0" lang="en-US" sz="1800" kern="1200" dirty="0" err="1">
                          <a:solidFill>
                            <a:schemeClr val="dk1"/>
                          </a:solidFill>
                          <a:latin typeface="+mn-lt"/>
                          <a:ea typeface="+mn-ea"/>
                          <a:cs typeface="+mn-cs"/>
                        </a:rPr>
                        <a:t>MySQL</a:t>
                      </a:r>
                      <a:endParaRPr lang="en-US" dirty="0"/>
                    </a:p>
                  </a:txBody>
                  <a:tcPr/>
                </a:tc>
                <a:extLst>
                  <a:ext uri="{0D108BD9-81ED-4DB2-BD59-A6C34878D82A}">
                    <a16:rowId xmlns:a16="http://schemas.microsoft.com/office/drawing/2014/main" xmlns="" val="10002"/>
                  </a:ext>
                </a:extLst>
              </a:tr>
              <a:tr h="370840">
                <a:tc>
                  <a:txBody>
                    <a:bodyPr/>
                    <a:lstStyle/>
                    <a:p>
                      <a:r>
                        <a:rPr kumimoji="0" lang="en-US" sz="1800" b="1" kern="1200" dirty="0">
                          <a:solidFill>
                            <a:schemeClr val="dk1"/>
                          </a:solidFill>
                          <a:latin typeface="+mn-lt"/>
                          <a:ea typeface="+mn-ea"/>
                          <a:cs typeface="+mn-cs"/>
                        </a:rPr>
                        <a:t>Web Browser</a:t>
                      </a:r>
                      <a:endParaRPr lang="en-US" dirty="0"/>
                    </a:p>
                  </a:txBody>
                  <a:tcPr/>
                </a:tc>
                <a:tc>
                  <a:txBody>
                    <a:bodyPr/>
                    <a:lstStyle/>
                    <a:p>
                      <a:r>
                        <a:rPr kumimoji="0" lang="en-US" sz="1800" kern="1200" dirty="0">
                          <a:solidFill>
                            <a:schemeClr val="dk1"/>
                          </a:solidFill>
                          <a:latin typeface="+mn-lt"/>
                          <a:ea typeface="+mn-ea"/>
                          <a:cs typeface="+mn-cs"/>
                        </a:rPr>
                        <a:t>Google Chrome or any compatible browser</a:t>
                      </a:r>
                      <a:endParaRPr lang="en-US" dirty="0"/>
                    </a:p>
                  </a:txBody>
                  <a:tcPr/>
                </a:tc>
                <a:extLst>
                  <a:ext uri="{0D108BD9-81ED-4DB2-BD59-A6C34878D82A}">
                    <a16:rowId xmlns:a16="http://schemas.microsoft.com/office/drawing/2014/main" xmlns="" val="10003"/>
                  </a:ext>
                </a:extLst>
              </a:tr>
              <a:tr h="370840">
                <a:tc>
                  <a:txBody>
                    <a:bodyPr/>
                    <a:lstStyle/>
                    <a:p>
                      <a:r>
                        <a:rPr kumimoji="0" lang="en-US" sz="1800" b="1" kern="1200" dirty="0">
                          <a:solidFill>
                            <a:schemeClr val="dk1"/>
                          </a:solidFill>
                          <a:latin typeface="+mn-lt"/>
                          <a:ea typeface="+mn-ea"/>
                          <a:cs typeface="+mn-cs"/>
                        </a:rPr>
                        <a:t>Operating System</a:t>
                      </a:r>
                      <a:endParaRPr lang="en-US" dirty="0"/>
                    </a:p>
                  </a:txBody>
                  <a:tcPr/>
                </a:tc>
                <a:tc>
                  <a:txBody>
                    <a:bodyPr/>
                    <a:lstStyle/>
                    <a:p>
                      <a:r>
                        <a:rPr kumimoji="0" lang="en-US" sz="1800" kern="1200" dirty="0">
                          <a:solidFill>
                            <a:schemeClr val="dk1"/>
                          </a:solidFill>
                          <a:latin typeface="+mn-lt"/>
                          <a:ea typeface="+mn-ea"/>
                          <a:cs typeface="+mn-cs"/>
                        </a:rPr>
                        <a:t>Windows or any equivalent OS</a:t>
                      </a:r>
                      <a:endParaRPr lang="en-US" dirty="0"/>
                    </a:p>
                  </a:txBody>
                  <a:tcPr/>
                </a:tc>
                <a:extLst>
                  <a:ext uri="{0D108BD9-81ED-4DB2-BD59-A6C34878D82A}">
                    <a16:rowId xmlns:a16="http://schemas.microsoft.com/office/drawing/2014/main" xmlns="" val="10004"/>
                  </a:ext>
                </a:extLst>
              </a:tr>
            </a:tbl>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0"/>
            <a:ext cx="7498080" cy="1000108"/>
          </a:xfrm>
        </p:spPr>
        <p:txBody>
          <a:bodyPr/>
          <a:lstStyle/>
          <a:p>
            <a:pPr algn="ctr"/>
            <a:r>
              <a:rPr lang="en-IN" b="1" dirty="0"/>
              <a:t>Use Case Diagram</a:t>
            </a:r>
            <a:endParaRPr lang="en-US" b="1"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9633" y="1268760"/>
            <a:ext cx="7674056" cy="4590476"/>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632" y="332656"/>
            <a:ext cx="7754816" cy="6237312"/>
          </a:xfrm>
          <a:prstGeom prst="rect">
            <a:avLst/>
          </a:prstGeom>
        </p:spPr>
      </p:pic>
    </p:spTree>
    <p:extLst>
      <p:ext uri="{BB962C8B-B14F-4D97-AF65-F5344CB8AC3E}">
        <p14:creationId xmlns:p14="http://schemas.microsoft.com/office/powerpoint/2010/main" val="266607880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3648" y="-315416"/>
            <a:ext cx="7498080" cy="1142984"/>
          </a:xfrm>
        </p:spPr>
        <p:txBody>
          <a:bodyPr/>
          <a:lstStyle/>
          <a:p>
            <a:pPr algn="ctr"/>
            <a:r>
              <a:rPr lang="en-IN" b="1" dirty="0"/>
              <a:t>ER Diagram</a:t>
            </a:r>
            <a:endParaRPr lang="en-US" b="1" dirty="0"/>
          </a:p>
        </p:txBody>
      </p:sp>
      <p:pic>
        <p:nvPicPr>
          <p:cNvPr id="5" name="Picture 4" descr="erdia (2)"/>
          <p:cNvPicPr/>
          <p:nvPr/>
        </p:nvPicPr>
        <p:blipFill>
          <a:blip r:embed="rId2">
            <a:extLst>
              <a:ext uri="{28A0092B-C50C-407E-A947-70E740481C1C}">
                <a14:useLocalDpi xmlns:a14="http://schemas.microsoft.com/office/drawing/2010/main" val="0"/>
              </a:ext>
            </a:extLst>
          </a:blip>
          <a:srcRect/>
          <a:stretch>
            <a:fillRect/>
          </a:stretch>
        </p:blipFill>
        <p:spPr bwMode="auto">
          <a:xfrm>
            <a:off x="1352550" y="690562"/>
            <a:ext cx="7611938" cy="5476875"/>
          </a:xfrm>
          <a:prstGeom prst="rect">
            <a:avLst/>
          </a:prstGeom>
          <a:noFill/>
          <a:ln>
            <a:noFill/>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0B199F2-AF9F-DB9A-77E0-00FEF2FAF8C0}"/>
              </a:ext>
            </a:extLst>
          </p:cNvPr>
          <p:cNvSpPr>
            <a:spLocks noGrp="1"/>
          </p:cNvSpPr>
          <p:nvPr>
            <p:ph type="title"/>
          </p:nvPr>
        </p:nvSpPr>
        <p:spPr/>
        <p:txBody>
          <a:bodyPr/>
          <a:lstStyle/>
          <a:p>
            <a:pPr algn="ctr"/>
            <a:r>
              <a:rPr lang="en-IN" b="1" dirty="0"/>
              <a:t>Dataflow Diagrams (DFDs)</a:t>
            </a:r>
          </a:p>
        </p:txBody>
      </p:sp>
      <p:sp>
        <p:nvSpPr>
          <p:cNvPr id="3" name="Content Placeholder 2">
            <a:extLst>
              <a:ext uri="{FF2B5EF4-FFF2-40B4-BE49-F238E27FC236}">
                <a16:creationId xmlns:a16="http://schemas.microsoft.com/office/drawing/2014/main" xmlns="" id="{6666F14B-DADB-066E-F2A5-FEA50377177D}"/>
              </a:ext>
            </a:extLst>
          </p:cNvPr>
          <p:cNvSpPr>
            <a:spLocks noGrp="1"/>
          </p:cNvSpPr>
          <p:nvPr>
            <p:ph idx="1"/>
          </p:nvPr>
        </p:nvSpPr>
        <p:spPr/>
        <p:txBody>
          <a:bodyPr>
            <a:normAutofit fontScale="77500" lnSpcReduction="20000"/>
          </a:bodyPr>
          <a:lstStyle/>
          <a:p>
            <a:pPr marL="82296" indent="0" algn="just">
              <a:buNone/>
            </a:pPr>
            <a:r>
              <a:rPr lang="en-US" sz="3200" dirty="0">
                <a:solidFill>
                  <a:srgbClr val="333333"/>
                </a:solidFill>
                <a:effectLst/>
                <a:latin typeface="Calibri" panose="020F0502020204030204" pitchFamily="34" charset="0"/>
                <a:ea typeface="Times New Roman" panose="02020603050405020304" pitchFamily="18" charset="0"/>
              </a:rPr>
              <a:t>A Data Flow Diagram (DFD) is a traditional visual representation of the information flows within a system. A neat and clear DFD can depict the right amount of the system requirement graphically. It can be manual, automated, or a combination of both.</a:t>
            </a:r>
            <a:endParaRPr lang="en-IN" sz="3200" dirty="0">
              <a:effectLst/>
              <a:latin typeface="Times New Roman" panose="02020603050405020304" pitchFamily="18" charset="0"/>
              <a:ea typeface="Times New Roman" panose="02020603050405020304" pitchFamily="18" charset="0"/>
            </a:endParaRPr>
          </a:p>
          <a:p>
            <a:pPr marL="82296" indent="0" algn="just">
              <a:buNone/>
            </a:pPr>
            <a:r>
              <a:rPr lang="en-US" sz="3200" dirty="0">
                <a:solidFill>
                  <a:srgbClr val="333333"/>
                </a:solidFill>
                <a:effectLst/>
                <a:latin typeface="Calibri" panose="020F0502020204030204" pitchFamily="34" charset="0"/>
                <a:ea typeface="Times New Roman" panose="02020603050405020304" pitchFamily="18" charset="0"/>
              </a:rPr>
              <a:t>It shows how data enters and leaves the system, what changes the information, and where data is stored.</a:t>
            </a:r>
            <a:endParaRPr lang="en-IN" sz="3200" dirty="0">
              <a:effectLst/>
              <a:latin typeface="Times New Roman" panose="02020603050405020304" pitchFamily="18" charset="0"/>
              <a:ea typeface="Times New Roman" panose="02020603050405020304" pitchFamily="18" charset="0"/>
            </a:endParaRPr>
          </a:p>
          <a:p>
            <a:pPr marL="82296" indent="0" algn="just">
              <a:buNone/>
            </a:pPr>
            <a:r>
              <a:rPr lang="en-US" sz="3200" dirty="0">
                <a:solidFill>
                  <a:srgbClr val="333333"/>
                </a:solidFill>
                <a:effectLst/>
                <a:latin typeface="Calibri" panose="020F0502020204030204" pitchFamily="34" charset="0"/>
                <a:ea typeface="Times New Roman" panose="02020603050405020304" pitchFamily="18" charset="0"/>
              </a:rPr>
              <a:t>The objective of a DFD is to show the scope and boundaries of a system as a whole. It may be used as a communication tool between a system analyst and any person who plays a part in the order that acts as a starting point for redesigning a system. The DFD is also called as a data flow graph or bubble chart.</a:t>
            </a:r>
            <a:endParaRPr lang="en-IN" sz="3200" dirty="0">
              <a:effectLst/>
              <a:latin typeface="Times New Roman" panose="02020603050405020304" pitchFamily="18" charset="0"/>
              <a:ea typeface="Times New Roman" panose="02020603050405020304" pitchFamily="18" charset="0"/>
            </a:endParaRPr>
          </a:p>
          <a:p>
            <a:endParaRPr lang="en-IN" dirty="0"/>
          </a:p>
        </p:txBody>
      </p:sp>
    </p:spTree>
    <p:extLst>
      <p:ext uri="{BB962C8B-B14F-4D97-AF65-F5344CB8AC3E}">
        <p14:creationId xmlns:p14="http://schemas.microsoft.com/office/powerpoint/2010/main" val="396765313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a:stretch>
            <a:fillRect/>
          </a:stretch>
        </p:blipFill>
        <p:spPr>
          <a:xfrm>
            <a:off x="1331640" y="620688"/>
            <a:ext cx="7560840" cy="5256584"/>
          </a:xfrm>
          <a:prstGeom prst="rect">
            <a:avLst/>
          </a:prstGeom>
        </p:spPr>
      </p:pic>
    </p:spTree>
    <p:extLst>
      <p:ext uri="{BB962C8B-B14F-4D97-AF65-F5344CB8AC3E}">
        <p14:creationId xmlns:p14="http://schemas.microsoft.com/office/powerpoint/2010/main" val="166359745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a:stretch>
            <a:fillRect/>
          </a:stretch>
        </p:blipFill>
        <p:spPr>
          <a:xfrm>
            <a:off x="1187624" y="273367"/>
            <a:ext cx="7776864" cy="6311265"/>
          </a:xfrm>
          <a:prstGeom prst="rect">
            <a:avLst/>
          </a:prstGeom>
        </p:spPr>
      </p:pic>
    </p:spTree>
    <p:extLst>
      <p:ext uri="{BB962C8B-B14F-4D97-AF65-F5344CB8AC3E}">
        <p14:creationId xmlns:p14="http://schemas.microsoft.com/office/powerpoint/2010/main" val="40490375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a:stretch>
            <a:fillRect/>
          </a:stretch>
        </p:blipFill>
        <p:spPr>
          <a:xfrm>
            <a:off x="1549400" y="531495"/>
            <a:ext cx="7415088" cy="5795010"/>
          </a:xfrm>
          <a:prstGeom prst="rect">
            <a:avLst/>
          </a:prstGeom>
        </p:spPr>
      </p:pic>
    </p:spTree>
    <p:extLst>
      <p:ext uri="{BB962C8B-B14F-4D97-AF65-F5344CB8AC3E}">
        <p14:creationId xmlns:p14="http://schemas.microsoft.com/office/powerpoint/2010/main" val="97027233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tretch>
            <a:fillRect/>
          </a:stretch>
        </p:blipFill>
        <p:spPr>
          <a:xfrm>
            <a:off x="1549400" y="436880"/>
            <a:ext cx="6983040" cy="5984240"/>
          </a:xfrm>
          <a:prstGeom prst="rect">
            <a:avLst/>
          </a:prstGeom>
        </p:spPr>
      </p:pic>
    </p:spTree>
    <p:extLst>
      <p:ext uri="{BB962C8B-B14F-4D97-AF65-F5344CB8AC3E}">
        <p14:creationId xmlns:p14="http://schemas.microsoft.com/office/powerpoint/2010/main" val="416437594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35F0386-8B12-CC23-A99D-098C6B343917}"/>
              </a:ext>
            </a:extLst>
          </p:cNvPr>
          <p:cNvSpPr>
            <a:spLocks noGrp="1"/>
          </p:cNvSpPr>
          <p:nvPr>
            <p:ph type="title"/>
          </p:nvPr>
        </p:nvSpPr>
        <p:spPr>
          <a:xfrm>
            <a:off x="1435608" y="-99392"/>
            <a:ext cx="7498080" cy="720080"/>
          </a:xfrm>
        </p:spPr>
        <p:txBody>
          <a:bodyPr>
            <a:normAutofit fontScale="90000"/>
          </a:bodyPr>
          <a:lstStyle/>
          <a:p>
            <a:pPr algn="ctr"/>
            <a:r>
              <a:rPr lang="en-IN" b="1" dirty="0"/>
              <a:t>Class Diagram</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3417" y="908720"/>
            <a:ext cx="7498080" cy="5589240"/>
          </a:xfrm>
          <a:prstGeom prst="rect">
            <a:avLst/>
          </a:prstGeom>
        </p:spPr>
      </p:pic>
    </p:spTree>
    <p:extLst>
      <p:ext uri="{BB962C8B-B14F-4D97-AF65-F5344CB8AC3E}">
        <p14:creationId xmlns:p14="http://schemas.microsoft.com/office/powerpoint/2010/main" val="394142596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142852"/>
            <a:ext cx="7498080" cy="2071702"/>
          </a:xfrm>
        </p:spPr>
        <p:txBody>
          <a:bodyPr>
            <a:normAutofit/>
          </a:bodyPr>
          <a:lstStyle/>
          <a:p>
            <a:pPr algn="ctr"/>
            <a:r>
              <a:rPr lang="en-US" b="1" u="sng" dirty="0"/>
              <a:t>Implementation and </a:t>
            </a:r>
            <a:br>
              <a:rPr lang="en-US" b="1" u="sng" dirty="0"/>
            </a:br>
            <a:r>
              <a:rPr lang="en-US" b="1" u="sng" dirty="0"/>
              <a:t>System Testing</a:t>
            </a:r>
            <a:r>
              <a:rPr lang="en-US" dirty="0"/>
              <a:t/>
            </a:r>
            <a:br>
              <a:rPr lang="en-US" dirty="0"/>
            </a:br>
            <a:endParaRPr lang="en-US" dirty="0"/>
          </a:p>
        </p:txBody>
      </p:sp>
      <p:sp>
        <p:nvSpPr>
          <p:cNvPr id="3" name="Content Placeholder 2"/>
          <p:cNvSpPr>
            <a:spLocks noGrp="1"/>
          </p:cNvSpPr>
          <p:nvPr>
            <p:ph idx="1"/>
          </p:nvPr>
        </p:nvSpPr>
        <p:spPr>
          <a:xfrm>
            <a:off x="1435608" y="1643050"/>
            <a:ext cx="7498080" cy="4605350"/>
          </a:xfrm>
        </p:spPr>
        <p:txBody>
          <a:bodyPr>
            <a:normAutofit fontScale="70000" lnSpcReduction="20000"/>
          </a:bodyPr>
          <a:lstStyle/>
          <a:p>
            <a:r>
              <a:rPr lang="en-US" dirty="0"/>
              <a:t>After all phase have been perfectly done, the system will be implemented to the server and the system can be used.</a:t>
            </a:r>
          </a:p>
          <a:p>
            <a:endParaRPr lang="en-US" dirty="0"/>
          </a:p>
          <a:p>
            <a:pPr>
              <a:buNone/>
            </a:pPr>
            <a:r>
              <a:rPr lang="en-US" b="1" u="sng" dirty="0"/>
              <a:t>System Testing</a:t>
            </a:r>
          </a:p>
          <a:p>
            <a:pPr>
              <a:buNone/>
            </a:pPr>
            <a:endParaRPr lang="en-US" dirty="0"/>
          </a:p>
          <a:p>
            <a:r>
              <a:rPr lang="en-US" dirty="0"/>
              <a:t>The goal of the system testing process was to determine all faults in our project .The program was subjected to a set of test inputs and many explanations were made and based on these explanations it will be decided whether the program behaves as expected or not. Our Project went through two levels of testing</a:t>
            </a:r>
          </a:p>
          <a:p>
            <a:pPr>
              <a:buFont typeface="Wingdings" pitchFamily="2" charset="2"/>
              <a:buChar char="q"/>
            </a:pPr>
            <a:endParaRPr lang="en-US" dirty="0"/>
          </a:p>
          <a:p>
            <a:pPr>
              <a:buFont typeface="Wingdings" pitchFamily="2" charset="2"/>
              <a:buChar char="q"/>
            </a:pPr>
            <a:r>
              <a:rPr lang="en-US" dirty="0"/>
              <a:t>Unit testing</a:t>
            </a:r>
          </a:p>
          <a:p>
            <a:pPr>
              <a:buFont typeface="Wingdings" pitchFamily="2" charset="2"/>
              <a:buChar char="q"/>
            </a:pPr>
            <a:r>
              <a:rPr lang="en-US" dirty="0"/>
              <a:t>Integration testing</a:t>
            </a:r>
          </a:p>
          <a:p>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725470"/>
          </a:xfrm>
        </p:spPr>
        <p:txBody>
          <a:bodyPr>
            <a:normAutofit fontScale="90000"/>
          </a:bodyPr>
          <a:lstStyle/>
          <a:p>
            <a:pPr algn="ctr"/>
            <a:r>
              <a:rPr lang="en-US" b="1" u="sng" dirty="0"/>
              <a:t>Project Screens</a:t>
            </a:r>
            <a:r>
              <a:rPr lang="en-US" dirty="0"/>
              <a:t/>
            </a:r>
            <a:br>
              <a:rPr lang="en-US" dirty="0"/>
            </a:br>
            <a:endParaRPr lang="en-US" dirty="0"/>
          </a:p>
        </p:txBody>
      </p:sp>
      <p:pic>
        <p:nvPicPr>
          <p:cNvPr id="5" name="Picture 4" descr="C:\Users\ANUJ\Downloads\Insurance-Management-System.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35608" y="836712"/>
            <a:ext cx="7240848" cy="5517232"/>
          </a:xfrm>
          <a:prstGeom prst="rect">
            <a:avLst/>
          </a:prstGeom>
          <a:noFill/>
          <a:ln>
            <a:noFill/>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5" name="Picture 4"/>
          <p:cNvPicPr/>
          <p:nvPr/>
        </p:nvPicPr>
        <p:blipFill>
          <a:blip r:embed="rId2"/>
          <a:stretch>
            <a:fillRect/>
          </a:stretch>
        </p:blipFill>
        <p:spPr>
          <a:xfrm>
            <a:off x="1547664" y="332656"/>
            <a:ext cx="7272808" cy="2722245"/>
          </a:xfrm>
          <a:prstGeom prst="rect">
            <a:avLst/>
          </a:prstGeom>
        </p:spPr>
      </p:pic>
      <p:pic>
        <p:nvPicPr>
          <p:cNvPr id="8" name="Picture 7"/>
          <p:cNvPicPr/>
          <p:nvPr/>
        </p:nvPicPr>
        <p:blipFill>
          <a:blip r:embed="rId3"/>
          <a:stretch>
            <a:fillRect/>
          </a:stretch>
        </p:blipFill>
        <p:spPr>
          <a:xfrm>
            <a:off x="1537914" y="3429000"/>
            <a:ext cx="7210550" cy="2863215"/>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p:cNvPicPr/>
          <p:nvPr/>
        </p:nvPicPr>
        <p:blipFill>
          <a:blip r:embed="rId2"/>
          <a:stretch>
            <a:fillRect/>
          </a:stretch>
        </p:blipFill>
        <p:spPr>
          <a:xfrm>
            <a:off x="1475656" y="372466"/>
            <a:ext cx="7128792" cy="2870835"/>
          </a:xfrm>
          <a:prstGeom prst="rect">
            <a:avLst/>
          </a:prstGeom>
        </p:spPr>
      </p:pic>
      <p:pic>
        <p:nvPicPr>
          <p:cNvPr id="4" name="Picture 3"/>
          <p:cNvPicPr/>
          <p:nvPr/>
        </p:nvPicPr>
        <p:blipFill>
          <a:blip r:embed="rId3"/>
          <a:stretch>
            <a:fillRect/>
          </a:stretch>
        </p:blipFill>
        <p:spPr>
          <a:xfrm>
            <a:off x="1547664" y="3501008"/>
            <a:ext cx="7056784" cy="2841625"/>
          </a:xfrm>
          <a:prstGeom prst="rect">
            <a:avLst/>
          </a:prstGeom>
        </p:spPr>
      </p:pic>
    </p:spTree>
    <p:extLst>
      <p:ext uri="{BB962C8B-B14F-4D97-AF65-F5344CB8AC3E}">
        <p14:creationId xmlns:p14="http://schemas.microsoft.com/office/powerpoint/2010/main" val="156970695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p:cNvPicPr/>
          <p:nvPr/>
        </p:nvPicPr>
        <p:blipFill>
          <a:blip r:embed="rId2"/>
          <a:stretch>
            <a:fillRect/>
          </a:stretch>
        </p:blipFill>
        <p:spPr>
          <a:xfrm>
            <a:off x="1619672" y="404664"/>
            <a:ext cx="7056784" cy="2856865"/>
          </a:xfrm>
          <a:prstGeom prst="rect">
            <a:avLst/>
          </a:prstGeom>
        </p:spPr>
      </p:pic>
      <p:pic>
        <p:nvPicPr>
          <p:cNvPr id="4" name="Picture 3"/>
          <p:cNvPicPr/>
          <p:nvPr/>
        </p:nvPicPr>
        <p:blipFill>
          <a:blip r:embed="rId3"/>
          <a:stretch>
            <a:fillRect/>
          </a:stretch>
        </p:blipFill>
        <p:spPr>
          <a:xfrm>
            <a:off x="1743282" y="3645024"/>
            <a:ext cx="7221206" cy="2860040"/>
          </a:xfrm>
          <a:prstGeom prst="rect">
            <a:avLst/>
          </a:prstGeom>
        </p:spPr>
      </p:pic>
    </p:spTree>
    <p:extLst>
      <p:ext uri="{BB962C8B-B14F-4D97-AF65-F5344CB8AC3E}">
        <p14:creationId xmlns:p14="http://schemas.microsoft.com/office/powerpoint/2010/main" val="377464374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p:cNvPicPr/>
          <p:nvPr/>
        </p:nvPicPr>
        <p:blipFill>
          <a:blip r:embed="rId2"/>
          <a:stretch>
            <a:fillRect/>
          </a:stretch>
        </p:blipFill>
        <p:spPr>
          <a:xfrm>
            <a:off x="1619672" y="476672"/>
            <a:ext cx="7056784" cy="2856865"/>
          </a:xfrm>
          <a:prstGeom prst="rect">
            <a:avLst/>
          </a:prstGeom>
        </p:spPr>
      </p:pic>
      <p:pic>
        <p:nvPicPr>
          <p:cNvPr id="4" name="Picture 3"/>
          <p:cNvPicPr/>
          <p:nvPr/>
        </p:nvPicPr>
        <p:blipFill>
          <a:blip r:embed="rId3"/>
          <a:stretch>
            <a:fillRect/>
          </a:stretch>
        </p:blipFill>
        <p:spPr>
          <a:xfrm>
            <a:off x="1475656" y="3789040"/>
            <a:ext cx="7128792" cy="2851150"/>
          </a:xfrm>
          <a:prstGeom prst="rect">
            <a:avLst/>
          </a:prstGeom>
        </p:spPr>
      </p:pic>
    </p:spTree>
    <p:extLst>
      <p:ext uri="{BB962C8B-B14F-4D97-AF65-F5344CB8AC3E}">
        <p14:creationId xmlns:p14="http://schemas.microsoft.com/office/powerpoint/2010/main" val="204632445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p:cNvPicPr/>
          <p:nvPr/>
        </p:nvPicPr>
        <p:blipFill>
          <a:blip r:embed="rId2"/>
          <a:stretch>
            <a:fillRect/>
          </a:stretch>
        </p:blipFill>
        <p:spPr>
          <a:xfrm>
            <a:off x="1475656" y="620688"/>
            <a:ext cx="6984776" cy="2566035"/>
          </a:xfrm>
          <a:prstGeom prst="rect">
            <a:avLst/>
          </a:prstGeom>
        </p:spPr>
      </p:pic>
      <p:pic>
        <p:nvPicPr>
          <p:cNvPr id="4" name="Picture 3"/>
          <p:cNvPicPr/>
          <p:nvPr/>
        </p:nvPicPr>
        <p:blipFill>
          <a:blip r:embed="rId3"/>
          <a:stretch>
            <a:fillRect/>
          </a:stretch>
        </p:blipFill>
        <p:spPr>
          <a:xfrm>
            <a:off x="1475656" y="3717032"/>
            <a:ext cx="6984776" cy="2827655"/>
          </a:xfrm>
          <a:prstGeom prst="rect">
            <a:avLst/>
          </a:prstGeom>
        </p:spPr>
      </p:pic>
    </p:spTree>
    <p:extLst>
      <p:ext uri="{BB962C8B-B14F-4D97-AF65-F5344CB8AC3E}">
        <p14:creationId xmlns:p14="http://schemas.microsoft.com/office/powerpoint/2010/main" val="324616276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p:cNvPicPr/>
          <p:nvPr/>
        </p:nvPicPr>
        <p:blipFill>
          <a:blip r:embed="rId2"/>
          <a:stretch>
            <a:fillRect/>
          </a:stretch>
        </p:blipFill>
        <p:spPr>
          <a:xfrm>
            <a:off x="1331640" y="377402"/>
            <a:ext cx="7344816" cy="3339630"/>
          </a:xfrm>
          <a:prstGeom prst="rect">
            <a:avLst/>
          </a:prstGeom>
        </p:spPr>
      </p:pic>
      <p:pic>
        <p:nvPicPr>
          <p:cNvPr id="4" name="Picture 3"/>
          <p:cNvPicPr/>
          <p:nvPr/>
        </p:nvPicPr>
        <p:blipFill>
          <a:blip r:embed="rId3"/>
          <a:stretch>
            <a:fillRect/>
          </a:stretch>
        </p:blipFill>
        <p:spPr>
          <a:xfrm>
            <a:off x="1331640" y="3861048"/>
            <a:ext cx="7344816" cy="2867660"/>
          </a:xfrm>
          <a:prstGeom prst="rect">
            <a:avLst/>
          </a:prstGeom>
        </p:spPr>
      </p:pic>
    </p:spTree>
    <p:extLst>
      <p:ext uri="{BB962C8B-B14F-4D97-AF65-F5344CB8AC3E}">
        <p14:creationId xmlns:p14="http://schemas.microsoft.com/office/powerpoint/2010/main" val="213011873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p:cNvPicPr/>
          <p:nvPr/>
        </p:nvPicPr>
        <p:blipFill>
          <a:blip r:embed="rId2"/>
          <a:stretch>
            <a:fillRect/>
          </a:stretch>
        </p:blipFill>
        <p:spPr>
          <a:xfrm>
            <a:off x="1259632" y="188640"/>
            <a:ext cx="7416824" cy="3528392"/>
          </a:xfrm>
          <a:prstGeom prst="rect">
            <a:avLst/>
          </a:prstGeom>
        </p:spPr>
      </p:pic>
      <p:pic>
        <p:nvPicPr>
          <p:cNvPr id="4" name="Picture 3" descr="C:\Users\ANUJ\Downloads\Insurance-Management-System-Mange-Use-Detail.pn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44296" y="3920345"/>
            <a:ext cx="7432159" cy="2871470"/>
          </a:xfrm>
          <a:prstGeom prst="rect">
            <a:avLst/>
          </a:prstGeom>
          <a:noFill/>
          <a:ln>
            <a:noFill/>
          </a:ln>
        </p:spPr>
      </p:pic>
    </p:spTree>
    <p:extLst>
      <p:ext uri="{BB962C8B-B14F-4D97-AF65-F5344CB8AC3E}">
        <p14:creationId xmlns:p14="http://schemas.microsoft.com/office/powerpoint/2010/main" val="353266122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p:cNvPicPr/>
          <p:nvPr/>
        </p:nvPicPr>
        <p:blipFill>
          <a:blip r:embed="rId2"/>
          <a:stretch>
            <a:fillRect/>
          </a:stretch>
        </p:blipFill>
        <p:spPr>
          <a:xfrm>
            <a:off x="1403648" y="404664"/>
            <a:ext cx="7200800" cy="2869565"/>
          </a:xfrm>
          <a:prstGeom prst="rect">
            <a:avLst/>
          </a:prstGeom>
        </p:spPr>
      </p:pic>
      <p:pic>
        <p:nvPicPr>
          <p:cNvPr id="4" name="Picture 3"/>
          <p:cNvPicPr/>
          <p:nvPr/>
        </p:nvPicPr>
        <p:blipFill>
          <a:blip r:embed="rId3"/>
          <a:stretch>
            <a:fillRect/>
          </a:stretch>
        </p:blipFill>
        <p:spPr>
          <a:xfrm>
            <a:off x="1259632" y="3573016"/>
            <a:ext cx="7344816" cy="2864485"/>
          </a:xfrm>
          <a:prstGeom prst="rect">
            <a:avLst/>
          </a:prstGeom>
        </p:spPr>
      </p:pic>
    </p:spTree>
    <p:extLst>
      <p:ext uri="{BB962C8B-B14F-4D97-AF65-F5344CB8AC3E}">
        <p14:creationId xmlns:p14="http://schemas.microsoft.com/office/powerpoint/2010/main" val="99404952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p:cNvPicPr/>
          <p:nvPr/>
        </p:nvPicPr>
        <p:blipFill>
          <a:blip r:embed="rId2"/>
          <a:stretch>
            <a:fillRect/>
          </a:stretch>
        </p:blipFill>
        <p:spPr>
          <a:xfrm>
            <a:off x="1475656" y="476672"/>
            <a:ext cx="7272808" cy="2851150"/>
          </a:xfrm>
          <a:prstGeom prst="rect">
            <a:avLst/>
          </a:prstGeom>
        </p:spPr>
      </p:pic>
      <p:pic>
        <p:nvPicPr>
          <p:cNvPr id="4" name="Picture 3"/>
          <p:cNvPicPr/>
          <p:nvPr/>
        </p:nvPicPr>
        <p:blipFill>
          <a:blip r:embed="rId3"/>
          <a:stretch>
            <a:fillRect/>
          </a:stretch>
        </p:blipFill>
        <p:spPr>
          <a:xfrm>
            <a:off x="1475656" y="3573016"/>
            <a:ext cx="7272808" cy="2851150"/>
          </a:xfrm>
          <a:prstGeom prst="rect">
            <a:avLst/>
          </a:prstGeom>
        </p:spPr>
      </p:pic>
    </p:spTree>
    <p:extLst>
      <p:ext uri="{BB962C8B-B14F-4D97-AF65-F5344CB8AC3E}">
        <p14:creationId xmlns:p14="http://schemas.microsoft.com/office/powerpoint/2010/main" val="109763427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p:cNvPicPr/>
          <p:nvPr/>
        </p:nvPicPr>
        <p:blipFill>
          <a:blip r:embed="rId2"/>
          <a:stretch>
            <a:fillRect/>
          </a:stretch>
        </p:blipFill>
        <p:spPr>
          <a:xfrm>
            <a:off x="1403648" y="371682"/>
            <a:ext cx="7416824" cy="2856865"/>
          </a:xfrm>
          <a:prstGeom prst="rect">
            <a:avLst/>
          </a:prstGeom>
        </p:spPr>
      </p:pic>
      <p:pic>
        <p:nvPicPr>
          <p:cNvPr id="4" name="Picture 3"/>
          <p:cNvPicPr/>
          <p:nvPr/>
        </p:nvPicPr>
        <p:blipFill>
          <a:blip r:embed="rId3"/>
          <a:stretch>
            <a:fillRect/>
          </a:stretch>
        </p:blipFill>
        <p:spPr>
          <a:xfrm>
            <a:off x="1331640" y="3501008"/>
            <a:ext cx="7488832" cy="2828925"/>
          </a:xfrm>
          <a:prstGeom prst="rect">
            <a:avLst/>
          </a:prstGeom>
        </p:spPr>
      </p:pic>
    </p:spTree>
    <p:extLst>
      <p:ext uri="{BB962C8B-B14F-4D97-AF65-F5344CB8AC3E}">
        <p14:creationId xmlns:p14="http://schemas.microsoft.com/office/powerpoint/2010/main" val="275141869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p:cNvPicPr/>
          <p:nvPr/>
        </p:nvPicPr>
        <p:blipFill>
          <a:blip r:embed="rId2"/>
          <a:stretch>
            <a:fillRect/>
          </a:stretch>
        </p:blipFill>
        <p:spPr>
          <a:xfrm>
            <a:off x="1331640" y="427963"/>
            <a:ext cx="7416824" cy="2869565"/>
          </a:xfrm>
          <a:prstGeom prst="rect">
            <a:avLst/>
          </a:prstGeom>
        </p:spPr>
      </p:pic>
      <p:pic>
        <p:nvPicPr>
          <p:cNvPr id="4" name="Picture 3"/>
          <p:cNvPicPr/>
          <p:nvPr/>
        </p:nvPicPr>
        <p:blipFill>
          <a:blip r:embed="rId3"/>
          <a:stretch>
            <a:fillRect/>
          </a:stretch>
        </p:blipFill>
        <p:spPr>
          <a:xfrm>
            <a:off x="1259632" y="3861048"/>
            <a:ext cx="7488832" cy="2441575"/>
          </a:xfrm>
          <a:prstGeom prst="rect">
            <a:avLst/>
          </a:prstGeom>
        </p:spPr>
      </p:pic>
    </p:spTree>
    <p:extLst>
      <p:ext uri="{BB962C8B-B14F-4D97-AF65-F5344CB8AC3E}">
        <p14:creationId xmlns:p14="http://schemas.microsoft.com/office/powerpoint/2010/main" val="281484403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descr="C:\Users\ANUJ\Downloads\Insurance-Management-System-B-w-Dates-Policy-Report.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59632" y="188640"/>
            <a:ext cx="7560840" cy="3234055"/>
          </a:xfrm>
          <a:prstGeom prst="rect">
            <a:avLst/>
          </a:prstGeom>
          <a:noFill/>
          <a:ln>
            <a:noFill/>
          </a:ln>
        </p:spPr>
      </p:pic>
      <p:pic>
        <p:nvPicPr>
          <p:cNvPr id="4" name="Picture 3" descr="C:\Users\ANUJ\Downloads\Insurance-Management-System-B-w-Dates-Tickets-Report.pn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58334" y="3789040"/>
            <a:ext cx="7490130" cy="2871470"/>
          </a:xfrm>
          <a:prstGeom prst="rect">
            <a:avLst/>
          </a:prstGeom>
          <a:noFill/>
          <a:ln>
            <a:noFill/>
          </a:ln>
        </p:spPr>
      </p:pic>
    </p:spTree>
    <p:extLst>
      <p:ext uri="{BB962C8B-B14F-4D97-AF65-F5344CB8AC3E}">
        <p14:creationId xmlns:p14="http://schemas.microsoft.com/office/powerpoint/2010/main" val="398778663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descr="C:\Users\ANUJ\Downloads\Insurance-Management-System-B-w-Dates-Policy-Report (1).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75656" y="404664"/>
            <a:ext cx="7128792" cy="2871470"/>
          </a:xfrm>
          <a:prstGeom prst="rect">
            <a:avLst/>
          </a:prstGeom>
          <a:noFill/>
          <a:ln>
            <a:noFill/>
          </a:ln>
        </p:spPr>
      </p:pic>
      <p:pic>
        <p:nvPicPr>
          <p:cNvPr id="4" name="Picture 3" descr="C:\Users\ANUJ\Downloads\Insurance-Management-System-Search-Tickets.pn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03648" y="3501008"/>
            <a:ext cx="7200800" cy="2871470"/>
          </a:xfrm>
          <a:prstGeom prst="rect">
            <a:avLst/>
          </a:prstGeom>
          <a:noFill/>
          <a:ln>
            <a:noFill/>
          </a:ln>
        </p:spPr>
      </p:pic>
    </p:spTree>
    <p:extLst>
      <p:ext uri="{BB962C8B-B14F-4D97-AF65-F5344CB8AC3E}">
        <p14:creationId xmlns:p14="http://schemas.microsoft.com/office/powerpoint/2010/main" val="106420326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descr="C:\Users\ANUJ\Downloads\Insurance-Management-System (2).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3648" y="386111"/>
            <a:ext cx="7200800" cy="2871470"/>
          </a:xfrm>
          <a:prstGeom prst="rect">
            <a:avLst/>
          </a:prstGeom>
          <a:noFill/>
          <a:ln>
            <a:noFill/>
          </a:ln>
        </p:spPr>
      </p:pic>
      <p:pic>
        <p:nvPicPr>
          <p:cNvPr id="4" name="Picture 3" descr="C:\Users\ANUJ\Downloads\Insurance-Management-System (1).pn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03648" y="3645024"/>
            <a:ext cx="7200800" cy="2871470"/>
          </a:xfrm>
          <a:prstGeom prst="rect">
            <a:avLst/>
          </a:prstGeom>
          <a:noFill/>
          <a:ln>
            <a:noFill/>
          </a:ln>
        </p:spPr>
      </p:pic>
    </p:spTree>
    <p:extLst>
      <p:ext uri="{BB962C8B-B14F-4D97-AF65-F5344CB8AC3E}">
        <p14:creationId xmlns:p14="http://schemas.microsoft.com/office/powerpoint/2010/main" val="356497615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p:cNvPicPr/>
          <p:nvPr/>
        </p:nvPicPr>
        <p:blipFill>
          <a:blip r:embed="rId2"/>
          <a:stretch>
            <a:fillRect/>
          </a:stretch>
        </p:blipFill>
        <p:spPr>
          <a:xfrm>
            <a:off x="1403648" y="476672"/>
            <a:ext cx="7056784" cy="2854325"/>
          </a:xfrm>
          <a:prstGeom prst="rect">
            <a:avLst/>
          </a:prstGeom>
        </p:spPr>
      </p:pic>
      <p:pic>
        <p:nvPicPr>
          <p:cNvPr id="4" name="Picture 3"/>
          <p:cNvPicPr/>
          <p:nvPr/>
        </p:nvPicPr>
        <p:blipFill>
          <a:blip r:embed="rId3"/>
          <a:stretch>
            <a:fillRect/>
          </a:stretch>
        </p:blipFill>
        <p:spPr>
          <a:xfrm>
            <a:off x="1331640" y="3789040"/>
            <a:ext cx="7272808" cy="2869565"/>
          </a:xfrm>
          <a:prstGeom prst="rect">
            <a:avLst/>
          </a:prstGeom>
        </p:spPr>
      </p:pic>
    </p:spTree>
    <p:extLst>
      <p:ext uri="{BB962C8B-B14F-4D97-AF65-F5344CB8AC3E}">
        <p14:creationId xmlns:p14="http://schemas.microsoft.com/office/powerpoint/2010/main" val="364339378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p:cNvPicPr/>
          <p:nvPr/>
        </p:nvPicPr>
        <p:blipFill>
          <a:blip r:embed="rId2"/>
          <a:stretch>
            <a:fillRect/>
          </a:stretch>
        </p:blipFill>
        <p:spPr>
          <a:xfrm>
            <a:off x="1403648" y="404664"/>
            <a:ext cx="7200800" cy="2835275"/>
          </a:xfrm>
          <a:prstGeom prst="rect">
            <a:avLst/>
          </a:prstGeom>
        </p:spPr>
      </p:pic>
      <p:pic>
        <p:nvPicPr>
          <p:cNvPr id="4" name="Picture 3"/>
          <p:cNvPicPr/>
          <p:nvPr/>
        </p:nvPicPr>
        <p:blipFill>
          <a:blip r:embed="rId3"/>
          <a:stretch>
            <a:fillRect/>
          </a:stretch>
        </p:blipFill>
        <p:spPr>
          <a:xfrm>
            <a:off x="1394290" y="3645024"/>
            <a:ext cx="7210158" cy="2841625"/>
          </a:xfrm>
          <a:prstGeom prst="rect">
            <a:avLst/>
          </a:prstGeom>
        </p:spPr>
      </p:pic>
    </p:spTree>
    <p:extLst>
      <p:ext uri="{BB962C8B-B14F-4D97-AF65-F5344CB8AC3E}">
        <p14:creationId xmlns:p14="http://schemas.microsoft.com/office/powerpoint/2010/main" val="203933409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p:cNvPicPr/>
          <p:nvPr/>
        </p:nvPicPr>
        <p:blipFill>
          <a:blip r:embed="rId2"/>
          <a:stretch>
            <a:fillRect/>
          </a:stretch>
        </p:blipFill>
        <p:spPr>
          <a:xfrm>
            <a:off x="1331640" y="476672"/>
            <a:ext cx="7128792" cy="2844800"/>
          </a:xfrm>
          <a:prstGeom prst="rect">
            <a:avLst/>
          </a:prstGeom>
        </p:spPr>
      </p:pic>
      <p:pic>
        <p:nvPicPr>
          <p:cNvPr id="4" name="Picture 3"/>
          <p:cNvPicPr/>
          <p:nvPr/>
        </p:nvPicPr>
        <p:blipFill>
          <a:blip r:embed="rId3"/>
          <a:stretch>
            <a:fillRect/>
          </a:stretch>
        </p:blipFill>
        <p:spPr>
          <a:xfrm>
            <a:off x="1340998" y="3573016"/>
            <a:ext cx="7119434" cy="2846070"/>
          </a:xfrm>
          <a:prstGeom prst="rect">
            <a:avLst/>
          </a:prstGeom>
        </p:spPr>
      </p:pic>
    </p:spTree>
    <p:extLst>
      <p:ext uri="{BB962C8B-B14F-4D97-AF65-F5344CB8AC3E}">
        <p14:creationId xmlns:p14="http://schemas.microsoft.com/office/powerpoint/2010/main" val="363282708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p:cNvPicPr/>
          <p:nvPr/>
        </p:nvPicPr>
        <p:blipFill>
          <a:blip r:embed="rId2"/>
          <a:stretch>
            <a:fillRect/>
          </a:stretch>
        </p:blipFill>
        <p:spPr>
          <a:xfrm>
            <a:off x="1403648" y="332656"/>
            <a:ext cx="7344816" cy="3207385"/>
          </a:xfrm>
          <a:prstGeom prst="rect">
            <a:avLst/>
          </a:prstGeom>
        </p:spPr>
      </p:pic>
      <p:pic>
        <p:nvPicPr>
          <p:cNvPr id="4" name="Picture 3"/>
          <p:cNvPicPr/>
          <p:nvPr/>
        </p:nvPicPr>
        <p:blipFill>
          <a:blip r:embed="rId3"/>
          <a:stretch>
            <a:fillRect/>
          </a:stretch>
        </p:blipFill>
        <p:spPr>
          <a:xfrm>
            <a:off x="1259632" y="3789040"/>
            <a:ext cx="7488832" cy="2851150"/>
          </a:xfrm>
          <a:prstGeom prst="rect">
            <a:avLst/>
          </a:prstGeom>
        </p:spPr>
      </p:pic>
    </p:spTree>
    <p:extLst>
      <p:ext uri="{BB962C8B-B14F-4D97-AF65-F5344CB8AC3E}">
        <p14:creationId xmlns:p14="http://schemas.microsoft.com/office/powerpoint/2010/main" val="221001922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xmlns="" id="{64E57C65-6147-09EE-741B-234F863A1EA3}"/>
              </a:ext>
            </a:extLst>
          </p:cNvPr>
          <p:cNvSpPr>
            <a:spLocks noChangeArrowheads="1"/>
          </p:cNvSpPr>
          <p:nvPr/>
        </p:nvSpPr>
        <p:spPr bwMode="auto">
          <a:xfrm>
            <a:off x="1763688" y="404664"/>
            <a:ext cx="1014683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3" name="Picture 2"/>
          <p:cNvPicPr/>
          <p:nvPr/>
        </p:nvPicPr>
        <p:blipFill>
          <a:blip r:embed="rId2"/>
          <a:stretch>
            <a:fillRect/>
          </a:stretch>
        </p:blipFill>
        <p:spPr>
          <a:xfrm>
            <a:off x="1547664" y="1052736"/>
            <a:ext cx="7056784" cy="2907665"/>
          </a:xfrm>
          <a:prstGeom prst="rect">
            <a:avLst/>
          </a:prstGeom>
        </p:spPr>
      </p:pic>
    </p:spTree>
    <p:extLst>
      <p:ext uri="{BB962C8B-B14F-4D97-AF65-F5344CB8AC3E}">
        <p14:creationId xmlns:p14="http://schemas.microsoft.com/office/powerpoint/2010/main" val="330686219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CF56DD0-4D5C-3C1C-222D-A083EF7058A7}"/>
              </a:ext>
            </a:extLst>
          </p:cNvPr>
          <p:cNvSpPr>
            <a:spLocks noGrp="1"/>
          </p:cNvSpPr>
          <p:nvPr>
            <p:ph type="title"/>
          </p:nvPr>
        </p:nvSpPr>
        <p:spPr>
          <a:xfrm>
            <a:off x="1115616" y="548680"/>
            <a:ext cx="8064896" cy="360040"/>
          </a:xfrm>
        </p:spPr>
        <p:txBody>
          <a:bodyPr>
            <a:normAutofit fontScale="90000"/>
          </a:bodyPr>
          <a:lstStyle/>
          <a:p>
            <a:pPr algn="ctr"/>
            <a:r>
              <a:rPr lang="en-US" sz="4000" b="1" dirty="0">
                <a:effectLst>
                  <a:outerShdw blurRad="50800" dist="38100" algn="tr" rotWithShape="0">
                    <a:prstClr val="black">
                      <a:alpha val="40000"/>
                    </a:prstClr>
                  </a:outerShdw>
                </a:effectLst>
                <a:latin typeface="Times New Roman" panose="02020603050405020304" pitchFamily="18" charset="0"/>
                <a:ea typeface="Times New Roman" panose="02020603050405020304" pitchFamily="18" charset="0"/>
              </a:rPr>
              <a:t>Conclusion</a:t>
            </a:r>
            <a:r>
              <a:rPr lang="en-IN" sz="1800" b="1" dirty="0">
                <a:effectLst>
                  <a:outerShdw blurRad="50800" dist="38100" algn="tr" rotWithShape="0">
                    <a:prstClr val="black">
                      <a:alpha val="40000"/>
                    </a:prstClr>
                  </a:outerShdw>
                </a:effectLst>
                <a:latin typeface="Times New Roman" panose="02020603050405020304" pitchFamily="18" charset="0"/>
                <a:ea typeface="Times New Roman" panose="02020603050405020304" pitchFamily="18" charset="0"/>
              </a:rPr>
              <a:t/>
            </a:r>
            <a:br>
              <a:rPr lang="en-IN" sz="1800" b="1" dirty="0">
                <a:effectLst>
                  <a:outerShdw blurRad="50800" dist="38100" algn="tr" rotWithShape="0">
                    <a:prstClr val="black">
                      <a:alpha val="40000"/>
                    </a:prstClr>
                  </a:outerShdw>
                </a:effectLst>
                <a:latin typeface="Times New Roman" panose="02020603050405020304" pitchFamily="18" charset="0"/>
                <a:ea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xmlns="" id="{8F4CC09E-328C-FC4A-6A9B-8669484BF513}"/>
              </a:ext>
            </a:extLst>
          </p:cNvPr>
          <p:cNvSpPr>
            <a:spLocks noGrp="1"/>
          </p:cNvSpPr>
          <p:nvPr>
            <p:ph idx="1"/>
          </p:nvPr>
        </p:nvSpPr>
        <p:spPr>
          <a:xfrm>
            <a:off x="1043608" y="764704"/>
            <a:ext cx="8100392" cy="5976664"/>
          </a:xfrm>
        </p:spPr>
        <p:txBody>
          <a:bodyPr>
            <a:normAutofit fontScale="70000" lnSpcReduction="20000"/>
          </a:bodyPr>
          <a:lstStyle/>
          <a:p>
            <a:pPr marL="82296" indent="0">
              <a:buNone/>
            </a:pPr>
            <a:r>
              <a:rPr lang="en-US" dirty="0"/>
              <a:t>This Application provides a computerized version of Insurance Management System which will benefit the company.</a:t>
            </a:r>
          </a:p>
          <a:p>
            <a:pPr marL="82296" indent="0">
              <a:buNone/>
            </a:pPr>
            <a:r>
              <a:rPr lang="en-US" dirty="0"/>
              <a:t>It makes entire process online and can generate reports. It has a facility of user  login where user  can apply for policy and admin can approve/disapprove the policy. </a:t>
            </a:r>
          </a:p>
          <a:p>
            <a:pPr marL="82296" indent="0">
              <a:buNone/>
            </a:pPr>
            <a:r>
              <a:rPr lang="en-US" dirty="0"/>
              <a:t>The Application was designed in such a way that future changes can be                               done easily. The following conclusions can be deduced from the development of the project.</a:t>
            </a:r>
          </a:p>
          <a:p>
            <a:pPr lvl="0"/>
            <a:r>
              <a:rPr lang="en-US" dirty="0"/>
              <a:t>Automation of the entire system improves the productivity.</a:t>
            </a:r>
          </a:p>
          <a:p>
            <a:pPr lvl="0"/>
            <a:r>
              <a:rPr lang="en-US" dirty="0"/>
              <a:t>It provides a friendly graphical user interface which proves to be better when compared to the existing system.</a:t>
            </a:r>
          </a:p>
          <a:p>
            <a:pPr lvl="0"/>
            <a:r>
              <a:rPr lang="en-US" dirty="0"/>
              <a:t>It gives appropriate access to the authorized users depending on their permissions.</a:t>
            </a:r>
          </a:p>
          <a:p>
            <a:pPr lvl="0"/>
            <a:r>
              <a:rPr lang="en-US" dirty="0"/>
              <a:t>It effectively overcomes the delay in communications.</a:t>
            </a:r>
          </a:p>
          <a:p>
            <a:pPr lvl="0"/>
            <a:r>
              <a:rPr lang="en-US" dirty="0"/>
              <a:t>Updating of information becomes so easier.</a:t>
            </a:r>
          </a:p>
          <a:p>
            <a:pPr lvl="0"/>
            <a:r>
              <a:rPr lang="en-US" dirty="0"/>
              <a:t>System security, data security and reliability are the striking features.</a:t>
            </a:r>
          </a:p>
          <a:p>
            <a:pPr lvl="0"/>
            <a:r>
              <a:rPr lang="en-US" dirty="0"/>
              <a:t>The System has adequate scope for modification in future if it is necessary.</a:t>
            </a:r>
          </a:p>
          <a:p>
            <a:pPr marL="82296" indent="0">
              <a:buNone/>
            </a:pPr>
            <a:endParaRPr lang="en-IN" dirty="0"/>
          </a:p>
        </p:txBody>
      </p:sp>
    </p:spTree>
    <p:extLst>
      <p:ext uri="{BB962C8B-B14F-4D97-AF65-F5344CB8AC3E}">
        <p14:creationId xmlns:p14="http://schemas.microsoft.com/office/powerpoint/2010/main" val="426484054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725470"/>
          </a:xfrm>
        </p:spPr>
        <p:txBody>
          <a:bodyPr>
            <a:normAutofit fontScale="90000"/>
          </a:bodyPr>
          <a:lstStyle/>
          <a:p>
            <a:pPr algn="ctr"/>
            <a:r>
              <a:rPr lang="en-US" b="1" u="sng" dirty="0"/>
              <a:t>References</a:t>
            </a:r>
            <a:r>
              <a:rPr lang="en-US" dirty="0"/>
              <a:t/>
            </a:r>
            <a:br>
              <a:rPr lang="en-US" dirty="0"/>
            </a:br>
            <a:endParaRPr lang="en-US" dirty="0"/>
          </a:p>
        </p:txBody>
      </p:sp>
      <p:sp>
        <p:nvSpPr>
          <p:cNvPr id="3" name="Content Placeholder 2"/>
          <p:cNvSpPr>
            <a:spLocks noGrp="1"/>
          </p:cNvSpPr>
          <p:nvPr>
            <p:ph idx="1"/>
          </p:nvPr>
        </p:nvSpPr>
        <p:spPr>
          <a:xfrm>
            <a:off x="1435608" y="785794"/>
            <a:ext cx="7498080" cy="5462606"/>
          </a:xfrm>
        </p:spPr>
        <p:txBody>
          <a:bodyPr>
            <a:normAutofit/>
          </a:bodyPr>
          <a:lstStyle/>
          <a:p>
            <a:pPr marL="342900" lvl="0" indent="-342900" algn="just" hangingPunct="0">
              <a:buFont typeface="Wingdings" panose="05000000000000000000" pitchFamily="2" charset="2"/>
              <a:buChar char=""/>
            </a:pPr>
            <a:endParaRPr lang="en-IN" sz="2000" dirty="0">
              <a:effectLst/>
              <a:latin typeface="Calibri" panose="020F0502020204030204" pitchFamily="34" charset="0"/>
              <a:ea typeface="Calibri" panose="020F0502020204030204" pitchFamily="34" charset="0"/>
              <a:cs typeface="Calibri" panose="020F0502020204030204" pitchFamily="34" charset="0"/>
            </a:endParaRPr>
          </a:p>
          <a:p>
            <a:pPr lvl="0"/>
            <a:r>
              <a:rPr lang="en-US" sz="1800" dirty="0"/>
              <a:t>www.w3schools.com </a:t>
            </a:r>
          </a:p>
          <a:p>
            <a:pPr lvl="0"/>
            <a:r>
              <a:rPr lang="en-US" sz="1800" i="1" dirty="0"/>
              <a:t>in.</a:t>
            </a:r>
            <a:r>
              <a:rPr lang="en-US" sz="1800" b="1" i="1" dirty="0"/>
              <a:t>php</a:t>
            </a:r>
            <a:r>
              <a:rPr lang="en-US" sz="1800" i="1" dirty="0"/>
              <a:t>.net </a:t>
            </a:r>
            <a:endParaRPr lang="en-US" sz="1800" dirty="0"/>
          </a:p>
          <a:p>
            <a:pPr lvl="0"/>
            <a:r>
              <a:rPr lang="en-US" sz="1800" i="1" dirty="0"/>
              <a:t>en.wikipedia.org/wiki/</a:t>
            </a:r>
            <a:r>
              <a:rPr lang="en-US" sz="1800" b="1" i="1" dirty="0"/>
              <a:t>PHP</a:t>
            </a:r>
            <a:r>
              <a:rPr lang="en-US" sz="1800" i="1" dirty="0"/>
              <a:t> </a:t>
            </a:r>
            <a:endParaRPr lang="en-US" sz="1800" dirty="0"/>
          </a:p>
          <a:p>
            <a:pPr lvl="0"/>
            <a:r>
              <a:rPr lang="en-US" sz="1800" dirty="0" smtClean="0"/>
              <a:t>www.hotscripts.com/category/</a:t>
            </a:r>
            <a:r>
              <a:rPr lang="en-US" sz="1800" b="1" dirty="0" smtClean="0"/>
              <a:t>php</a:t>
            </a:r>
            <a:r>
              <a:rPr lang="en-US" sz="1800" dirty="0" smtClean="0"/>
              <a:t>/</a:t>
            </a:r>
            <a:endParaRPr lang="en-US" sz="1800" dirty="0"/>
          </a:p>
          <a:p>
            <a:pPr lvl="0"/>
            <a:r>
              <a:rPr lang="en-US" sz="1800" dirty="0"/>
              <a:t>www.</a:t>
            </a:r>
            <a:r>
              <a:rPr lang="en-US" sz="1800" b="1" dirty="0"/>
              <a:t>apache</a:t>
            </a:r>
            <a:r>
              <a:rPr lang="en-US" sz="1800" dirty="0"/>
              <a:t>.org/  </a:t>
            </a:r>
          </a:p>
          <a:p>
            <a:pPr lvl="0"/>
            <a:r>
              <a:rPr lang="en-US" sz="1800" dirty="0"/>
              <a:t>www.</a:t>
            </a:r>
            <a:r>
              <a:rPr lang="en-US" sz="1800" b="1" dirty="0"/>
              <a:t>mysql</a:t>
            </a:r>
            <a:r>
              <a:rPr lang="en-US" sz="1800" dirty="0"/>
              <a:t>.com/click.php?e=35050 </a:t>
            </a:r>
          </a:p>
          <a:p>
            <a:pPr marL="0" lvl="0" indent="0" algn="just" hangingPunct="0">
              <a:buNone/>
            </a:pPr>
            <a:endParaRPr lang="en-IN" sz="1800" dirty="0">
              <a:effectLst/>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57290" y="2428868"/>
            <a:ext cx="7498080" cy="1143000"/>
          </a:xfrm>
        </p:spPr>
        <p:txBody>
          <a:bodyPr>
            <a:normAutofit/>
          </a:bodyPr>
          <a:lstStyle/>
          <a:p>
            <a:pPr algn="ctr"/>
            <a:r>
              <a:rPr lang="en-IN" sz="6600" b="1" dirty="0"/>
              <a:t>Thank You</a:t>
            </a:r>
            <a:endParaRPr lang="en-US" sz="6600" b="1"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5717</TotalTime>
  <Words>753</Words>
  <Application>Microsoft Office PowerPoint</Application>
  <PresentationFormat>On-screen Show (4:3)</PresentationFormat>
  <Paragraphs>120</Paragraphs>
  <Slides>41</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41</vt:i4>
      </vt:variant>
    </vt:vector>
  </HeadingPairs>
  <TitlesOfParts>
    <vt:vector size="49" baseType="lpstr">
      <vt:lpstr>Arial</vt:lpstr>
      <vt:lpstr>Calibri</vt:lpstr>
      <vt:lpstr>Gill Sans MT</vt:lpstr>
      <vt:lpstr>Times New Roman</vt:lpstr>
      <vt:lpstr>Verdana</vt:lpstr>
      <vt:lpstr>Wingdings</vt:lpstr>
      <vt:lpstr>Wingdings 2</vt:lpstr>
      <vt:lpstr>Solstice</vt:lpstr>
      <vt:lpstr>Insurance Management System  Developed in PHP &amp; MySQL </vt:lpstr>
      <vt:lpstr>Abstract </vt:lpstr>
      <vt:lpstr>Introduction</vt:lpstr>
      <vt:lpstr>Project Modules </vt:lpstr>
      <vt:lpstr>Admin Module</vt:lpstr>
      <vt:lpstr>User Module</vt:lpstr>
      <vt:lpstr>Requirement Specification </vt:lpstr>
      <vt:lpstr>Continue.....</vt:lpstr>
      <vt:lpstr>Use Case Diagram</vt:lpstr>
      <vt:lpstr>PowerPoint Presentation</vt:lpstr>
      <vt:lpstr>ER Diagram</vt:lpstr>
      <vt:lpstr>Dataflow Diagrams (DFDs)</vt:lpstr>
      <vt:lpstr>PowerPoint Presentation</vt:lpstr>
      <vt:lpstr>PowerPoint Presentation</vt:lpstr>
      <vt:lpstr>PowerPoint Presentation</vt:lpstr>
      <vt:lpstr>PowerPoint Presentation</vt:lpstr>
      <vt:lpstr>Class Diagram</vt:lpstr>
      <vt:lpstr>Implementation and  System Testing </vt:lpstr>
      <vt:lpstr>Project Screens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 </vt:lpstr>
      <vt:lpstr>References </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COVID19 Testing  Management System</dc:title>
  <dc:creator>Anuj kumar</dc:creator>
  <cp:lastModifiedBy>Microsoft account</cp:lastModifiedBy>
  <cp:revision>97</cp:revision>
  <dcterms:created xsi:type="dcterms:W3CDTF">2021-11-06T13:13:02Z</dcterms:created>
  <dcterms:modified xsi:type="dcterms:W3CDTF">2023-11-25T19:22:28Z</dcterms:modified>
</cp:coreProperties>
</file>